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EC4B6"/>
                </a:solidFill>
                <a:latin typeface="Aptos"/>
              </a:rPr>
              <a:t>SQUAD CHARLIE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"/>
              </a:rPr>
              <a:t>Digital Oilfield Monitoring
&amp; Predictive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834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6B5C7"/>
                </a:solidFill>
                <a:latin typeface="Aptos"/>
              </a:rPr>
              <a:t>Technical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6576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From validated sensor data to explainable 7-day pump-failure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983480"/>
            <a:ext cx="1691640" cy="594360"/>
          </a:xfrm>
          <a:prstGeom prst="roundRect">
            <a:avLst/>
          </a:prstGeom>
          <a:solidFill>
            <a:srgbClr val="142234"/>
          </a:solidFill>
          <a:ln>
            <a:solidFill>
              <a:srgbClr val="27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38928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4983480"/>
            <a:ext cx="1691640" cy="594360"/>
          </a:xfrm>
          <a:prstGeom prst="roundRect">
            <a:avLst/>
          </a:prstGeom>
          <a:solidFill>
            <a:srgbClr val="142234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5138928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4983480"/>
            <a:ext cx="1691640" cy="594360"/>
          </a:xfrm>
          <a:prstGeom prst="roundRect">
            <a:avLst/>
          </a:prstGeom>
          <a:solidFill>
            <a:srgbClr val="142234"/>
          </a:solidFill>
          <a:ln>
            <a:solidFill>
              <a:srgbClr val="27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5138928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0" y="4983480"/>
            <a:ext cx="1691640" cy="594360"/>
          </a:xfrm>
          <a:prstGeom prst="roundRect">
            <a:avLst/>
          </a:prstGeom>
          <a:solidFill>
            <a:srgbClr val="14223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5138928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4983480"/>
            <a:ext cx="1691640" cy="594360"/>
          </a:xfrm>
          <a:prstGeom prst="roundRect">
            <a:avLst/>
          </a:prstGeom>
          <a:solidFill>
            <a:srgbClr val="14223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5138928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6B5C7"/>
                </a:solidFill>
                <a:latin typeface="Aptos"/>
              </a:rPr>
              <a:t>SQUAD CHARLIE  •  DIGITAL OILFIELD MONITORING &amp; PREDICTIVE MAINTENANCE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A6B5C7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01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6B5C7"/>
                </a:solidFill>
                <a:latin typeface="Aptos"/>
              </a:rPr>
              <a:t>Turn historical well sensor readings into operational insight and early-warning signals for pump reliability.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429000" cy="141732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478024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807208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Sensor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4612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Oil rate • pressure • water cut • temperature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50292" cy="1417320"/>
          </a:xfrm>
          <a:prstGeom prst="rect">
            <a:avLst/>
          </a:prstGeom>
          <a:solidFill>
            <a:srgbClr val="27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331720"/>
            <a:ext cx="3429000" cy="141732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78024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07208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7-day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4612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Failure_Next_7D + engineered trends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331720"/>
            <a:ext cx="50292" cy="14173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2331720"/>
            <a:ext cx="3429000" cy="141732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478024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07208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Control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4612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Risk visibility • explanations • alerts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331720"/>
            <a:ext cx="50292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Validate data before it reaches the database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Detect degradation patterns rather than only today's failure state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Give operators an interpretable risk signal with acknowledgement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6B5C7"/>
                </a:solidFill>
                <a:latin typeface="Aptos"/>
              </a:rPr>
              <a:t>SQUAD CHARLIE  •  DIGITAL OILFIELD MONITORING &amp; PREDICTIVE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A6B5C7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02 •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End-to-End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2240280"/>
            <a:ext cx="1353312" cy="1051560"/>
          </a:xfrm>
          <a:prstGeom prst="roundRect">
            <a:avLst/>
          </a:prstGeom>
          <a:solidFill>
            <a:srgbClr val="142234"/>
          </a:solidFill>
          <a:ln>
            <a:solidFill>
              <a:srgbClr val="27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2450592"/>
            <a:ext cx="1261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RAW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2770632"/>
            <a:ext cx="1261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A6B5C7"/>
                </a:solidFill>
                <a:latin typeface="Aptos"/>
              </a:rP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254203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A6B5C7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240280"/>
            <a:ext cx="1353312" cy="1051560"/>
          </a:xfrm>
          <a:prstGeom prst="roundRect">
            <a:avLst/>
          </a:prstGeom>
          <a:solidFill>
            <a:srgbClr val="142234"/>
          </a:solidFill>
          <a:ln>
            <a:solidFill>
              <a:srgbClr val="27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39" y="2450592"/>
            <a:ext cx="1261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HISTORICAL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39" y="2770632"/>
            <a:ext cx="1261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A6B5C7"/>
                </a:solidFill>
                <a:latin typeface="Aptos"/>
              </a:rPr>
              <a:t>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4203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A6B5C7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67328" y="2240280"/>
            <a:ext cx="1353312" cy="1051560"/>
          </a:xfrm>
          <a:prstGeom prst="roundRect">
            <a:avLst/>
          </a:prstGeom>
          <a:solidFill>
            <a:srgbClr val="142234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2450592"/>
            <a:ext cx="1261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770632"/>
            <a:ext cx="1261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A6B5C7"/>
                </a:solidFill>
                <a:latin typeface="Aptos"/>
              </a:rPr>
              <a:t>Time-aware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254203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A6B5C7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31536" y="2240280"/>
            <a:ext cx="1353312" cy="1051560"/>
          </a:xfrm>
          <a:prstGeom prst="roundRect">
            <a:avLst/>
          </a:prstGeom>
          <a:solidFill>
            <a:srgbClr val="142234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77255" y="2450592"/>
            <a:ext cx="1261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7255" y="2770632"/>
            <a:ext cx="1261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A6B5C7"/>
                </a:solidFill>
                <a:latin typeface="Aptos"/>
              </a:rPr>
              <a:t>Next 7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254203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A6B5C7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95744" y="2240280"/>
            <a:ext cx="1353312" cy="1051560"/>
          </a:xfrm>
          <a:prstGeom prst="roundRect">
            <a:avLst/>
          </a:prstGeom>
          <a:solidFill>
            <a:srgbClr val="142234"/>
          </a:solidFill>
          <a:ln>
            <a:solidFill>
              <a:srgbClr val="27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1464" y="2450592"/>
            <a:ext cx="1261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2770632"/>
            <a:ext cx="1261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A6B5C7"/>
                </a:solidFill>
                <a:latin typeface="Aptos"/>
              </a:rP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54203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A6B5C7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59952" y="2240280"/>
            <a:ext cx="1353312" cy="1051560"/>
          </a:xfrm>
          <a:prstGeom prst="roundRect">
            <a:avLst/>
          </a:prstGeom>
          <a:solidFill>
            <a:srgbClr val="142234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5672" y="2450592"/>
            <a:ext cx="1261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5672" y="2770632"/>
            <a:ext cx="1261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A6B5C7"/>
                </a:solidFill>
                <a:latin typeface="Aptos"/>
              </a:rPr>
              <a:t>Drivers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1552" y="254203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A6B5C7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24160" y="2240280"/>
            <a:ext cx="1353312" cy="1051560"/>
          </a:xfrm>
          <a:prstGeom prst="roundRect">
            <a:avLst/>
          </a:prstGeom>
          <a:solidFill>
            <a:srgbClr val="14223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9880" y="2450592"/>
            <a:ext cx="1261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2770632"/>
            <a:ext cx="1261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A6B5C7"/>
                </a:solidFill>
                <a:latin typeface="Aptos"/>
              </a:rPr>
              <a:t>Alerts + KPIs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29768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5F8FC"/>
                </a:solidFill>
                <a:latin typeface="Aptos"/>
              </a:rPr>
              <a:t>Modular separation keeps validation, modeling, explanation and presentation independently testable and maintainable.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6B5C7"/>
                </a:solidFill>
                <a:latin typeface="Aptos"/>
              </a:rPr>
              <a:t>SQUAD CHARLIE  •  DIGITAL OILFIELD MONITORING &amp; PREDICTIVE MAINTENANCE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A6B5C7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03 • 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Data Quality &amp; Historical Consolidation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468880" cy="132588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09344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38528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7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Schema + types + bounds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50292" cy="1325880"/>
          </a:xfrm>
          <a:prstGeom prst="rect">
            <a:avLst/>
          </a:prstGeom>
          <a:solidFill>
            <a:srgbClr val="27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468880" cy="132588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609344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938528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WELL-XX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7744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Pattern enforced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463040"/>
            <a:ext cx="50292" cy="13258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468880" cy="132588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09344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TEMPORAL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38528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ISO 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Calendar-aware processing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50292" cy="1325880"/>
          </a:xfrm>
          <a:prstGeom prst="rect">
            <a:avLst/>
          </a:prstGeom>
          <a:solidFill>
            <a:srgbClr val="27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39" y="1463040"/>
            <a:ext cx="2468880" cy="132588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1609344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1938528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37744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Current source files validated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39" y="1463040"/>
            <a:ext cx="50292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37560"/>
            <a:ext cx="10515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Malformed rows are rejected instead of silently inserted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Duplicate Well_ID + Date records are consolidated deterministically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Historical gaps are respected; distant observations are not treated as 7-day lags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Loader remains compatible with the existing GUI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6B5C7"/>
                </a:solidFill>
                <a:latin typeface="Aptos"/>
              </a:rPr>
              <a:t>SQUAD CHARLIE  •  DIGITAL OILFIELD MONITORING &amp; PREDICTIVE MAINTENANCE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A6B5C7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04 •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6B5C7"/>
                </a:solidFill>
                <a:latin typeface="Aptos"/>
              </a:rPr>
              <a:t>The model sees well behavior, not just isolated sensor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74920" cy="1508760"/>
          </a:xfrm>
          <a:prstGeom prst="roundRect">
            <a:avLst/>
          </a:prstGeom>
          <a:solidFill>
            <a:srgbClr val="142234"/>
          </a:solidFill>
          <a:ln>
            <a:solidFill>
              <a:srgbClr val="27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84832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774B8"/>
                </a:solidFill>
                <a:latin typeface="Aptos"/>
              </a:rPr>
              <a:t>CHANGE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50592"/>
            <a:ext cx="4480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Oil rate: 1D / 3D / 7D</a:t>
            </a:r>
          </a:p>
          <a:p>
            <a:pPr>
              <a:spcAft>
                <a:spcPts val="8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Pressure: 1D / 3D / 7D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074920" cy="1508760"/>
          </a:xfrm>
          <a:prstGeom prst="roundRect">
            <a:avLst/>
          </a:prstGeom>
          <a:solidFill>
            <a:srgbClr val="142234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84832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EC4B6"/>
                </a:solidFill>
                <a:latin typeface="Aptos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480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Oil-rate 7D average</a:t>
            </a:r>
          </a:p>
          <a:p>
            <a:pPr>
              <a:spcAft>
                <a:spcPts val="8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Pressure 7D average</a:t>
            </a:r>
          </a:p>
          <a:p>
            <a:pPr>
              <a:spcAft>
                <a:spcPts val="8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Temperature 7D average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5074920" cy="1508760"/>
          </a:xfrm>
          <a:prstGeom prst="roundRect">
            <a:avLst/>
          </a:prstGeom>
          <a:solidFill>
            <a:srgbClr val="142234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05072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VOLATILITY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70832"/>
            <a:ext cx="4480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Oil-rate 7D std</a:t>
            </a:r>
          </a:p>
          <a:p>
            <a:pPr>
              <a:spcAft>
                <a:spcPts val="8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Pressure 7D std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40480"/>
            <a:ext cx="5074920" cy="1508760"/>
          </a:xfrm>
          <a:prstGeom prst="roundRect">
            <a:avLst/>
          </a:prstGeom>
          <a:solidFill>
            <a:srgbClr val="14223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05072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Aptos"/>
              </a:rPr>
              <a:t>TREND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70832"/>
            <a:ext cx="4480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Oil-rate decline rate</a:t>
            </a:r>
          </a:p>
          <a:p>
            <a:pPr>
              <a:spcAft>
                <a:spcPts val="8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Pressure decline rate</a:t>
            </a:r>
          </a:p>
          <a:p>
            <a:pPr>
              <a:spcAft>
                <a:spcPts val="8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Water-cut trend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6B5C7"/>
                </a:solidFill>
                <a:latin typeface="Aptos"/>
              </a:rPr>
              <a:t>SQUAD CHARLIE  •  DIGITAL OILFIELD MONITORING &amp; PREDICTIVE MAINTENANCE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A6B5C7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05 • MODEL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Predictive Target: Failure_Next_7D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6B5C7"/>
                </a:solidFill>
                <a:latin typeface="Aptos"/>
              </a:rPr>
              <a:t>Instead of asking “is the pump failing today?”, the system asks whether a failure occurs within the next seven calendar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3063240" cy="132588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8658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15768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Sensor +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0292" cy="1325880"/>
          </a:xfrm>
          <a:prstGeom prst="rect">
            <a:avLst/>
          </a:prstGeom>
          <a:solidFill>
            <a:srgbClr val="27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6517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A6B5C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79" y="2240280"/>
            <a:ext cx="3063240" cy="132588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38658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FUTURE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715768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Next 7 calendar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79" y="2240280"/>
            <a:ext cx="50292" cy="13258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26517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A6B5C7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19" y="2240280"/>
            <a:ext cx="3063240" cy="132588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199" y="238658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199" y="2715768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Failure / No failure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2240280"/>
            <a:ext cx="50292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F5F8FC"/>
                </a:solidFill>
                <a:latin typeface="Aptos"/>
              </a:rPr>
              <a:t>Rows without a complete future window are excluded from supervised training rather than mislabeled as normal.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6B5C7"/>
                </a:solidFill>
                <a:latin typeface="Aptos"/>
              </a:rPr>
              <a:t>SQUAD CHARLIE  •  DIGITAL OILFIELD MONITORING &amp; PREDICTIVE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A6B5C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06 •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Machine Learning &amp;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132588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63624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92808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300 estimators • balanced 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50292" cy="1325880"/>
          </a:xfrm>
          <a:prstGeom prst="rect">
            <a:avLst/>
          </a:prstGeom>
          <a:solidFill>
            <a:srgbClr val="27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32588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63624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92808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Chronological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Past → training | Future →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417320"/>
            <a:ext cx="50292" cy="13258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75320" y="1417320"/>
            <a:ext cx="3246120" cy="132588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563624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892808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Versioned 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31720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Features • target • metrics • cutoff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417320"/>
            <a:ext cx="5029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383280"/>
            <a:ext cx="2423160" cy="114300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529584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Precision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58768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0.610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97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synthetic-data evaluation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383280"/>
            <a:ext cx="50292" cy="1143000"/>
          </a:xfrm>
          <a:prstGeom prst="rect">
            <a:avLst/>
          </a:prstGeom>
          <a:solidFill>
            <a:srgbClr val="27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74720" y="3383280"/>
            <a:ext cx="2423160" cy="114300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529584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Recall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858768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0.926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297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synthetic-data evaluation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3383280"/>
            <a:ext cx="50292" cy="1143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3383280"/>
            <a:ext cx="2423160" cy="114300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529584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F1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858768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0.735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297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synthetic-data evaluation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383280"/>
            <a:ext cx="5029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52559" y="3383280"/>
            <a:ext cx="2423160" cy="114300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39" y="3529584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ROC-AUC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39" y="3858768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0.671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39" y="4297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synthetic-data evaluation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559" y="3383280"/>
            <a:ext cx="50292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93776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6B5C7"/>
                </a:solidFill>
                <a:latin typeface="Aptos"/>
              </a:rPr>
              <a:t>These metrics demonstrate the pipeline, not production reliability. The dataset is synthetic and relatively small.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6B5C7"/>
                </a:solidFill>
                <a:latin typeface="Aptos"/>
              </a:rPr>
              <a:t>SQUAD CHARLIE  •  DIGITAL OILFIELD MONITORING &amp; PREDICTIVE MAINTENANCE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A6B5C7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07 • 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Explainable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6B5C7"/>
                </a:solidFill>
                <a:latin typeface="Aptos"/>
              </a:rPr>
              <a:t>Each risk score is paired with contributing signals so an operator can inspect the basis of an alert.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291840" cy="173736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03704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32888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7-day failure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50292" cy="1737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291840" cy="173736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03704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RISK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32888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Requires acknowledgement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057400"/>
            <a:ext cx="50292" cy="1737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79" y="2057400"/>
            <a:ext cx="3291840" cy="173736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2203704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DRIVERS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532888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3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971800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Direction + contribution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2057400"/>
            <a:ext cx="50292" cy="173736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Oil-rate decline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Pressure trend / volatility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Water-cut movement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Current values compared against model baselines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6B5C7"/>
                </a:solidFill>
                <a:latin typeface="Aptos"/>
              </a:rPr>
              <a:t>SQUAD CHARLIE  •  DIGITAL OILFIELD MONITORING &amp; PREDICTIVE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A6B5C7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08 •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Modern Operations Control Center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057400" cy="489204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"/>
              </a:rPr>
              <a:t>SQUAD
CHARLIE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●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B5C7"/>
                </a:solidFill>
                <a:latin typeface="Aptos"/>
              </a:rPr>
              <a:t>○ Wells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B5C7"/>
                </a:solidFill>
                <a:latin typeface="Aptos"/>
              </a:rPr>
              <a:t>○ Predictions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B5C7"/>
                </a:solidFill>
                <a:latin typeface="Aptos"/>
              </a:rPr>
              <a:t>○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B5C7"/>
                </a:solidFill>
                <a:latin typeface="Aptos"/>
              </a:rPr>
              <a:t>○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B5C7"/>
                </a:solidFill>
                <a:latin typeface="Aptos"/>
              </a:rPr>
              <a:t>○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25780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6B5C7"/>
                </a:solidFill>
                <a:latin typeface="Aptos"/>
              </a:rPr>
              <a:t>○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463040"/>
            <a:ext cx="3886200" cy="123444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609344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FIELD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938528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Live KPI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1463040"/>
            <a:ext cx="50292" cy="1234440"/>
          </a:xfrm>
          <a:prstGeom prst="rect">
            <a:avLst/>
          </a:prstGeom>
          <a:solidFill>
            <a:srgbClr val="27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78040" y="1463040"/>
            <a:ext cx="3886200" cy="123444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1609344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FIELD UPTIME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938528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Operational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1463040"/>
            <a:ext cx="5029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26080" y="2971800"/>
            <a:ext cx="3886200" cy="123444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3118104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FAILURE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447288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7-day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971800"/>
            <a:ext cx="50292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78040" y="2971800"/>
            <a:ext cx="3886200" cy="123444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3118104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DATA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447288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Validated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2971800"/>
            <a:ext cx="50292" cy="1234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26080" y="4572000"/>
            <a:ext cx="8138160" cy="109728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4718304"/>
            <a:ext cx="7818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WELL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047488"/>
            <a:ext cx="7818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Search • select • drill 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486400"/>
            <a:ext cx="7818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Overview is the default monitoring 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4572000"/>
            <a:ext cx="50292" cy="10972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6B5C7"/>
                </a:solidFill>
                <a:latin typeface="Aptos"/>
              </a:rPr>
              <a:t>SQUAD CHARLIE  •  DIGITAL OILFIELD MONITORING &amp; PREDICTIVE MAINTENANCE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A6B5C7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09 •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Critical Alert &amp; Acknowledgement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10789920" cy="822960"/>
          </a:xfrm>
          <a:prstGeom prst="roundRect">
            <a:avLst/>
          </a:prstGeom>
          <a:solidFill>
            <a:srgbClr val="4B191E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64792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⚠  CRITICAL  •  WELL-05  •  93.4% 7-DAY FAILURE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1728216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ACKNOWLEDGE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1783080" cy="731520"/>
          </a:xfrm>
          <a:prstGeom prst="roundRect">
            <a:avLst/>
          </a:prstGeom>
          <a:solidFill>
            <a:srgbClr val="142234"/>
          </a:solidFill>
          <a:ln>
            <a:solidFill>
              <a:srgbClr val="27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493008"/>
            <a:ext cx="16367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RISK 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34564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A6B5C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3246120"/>
            <a:ext cx="1783080" cy="731520"/>
          </a:xfrm>
          <a:prstGeom prst="roundRect">
            <a:avLst/>
          </a:prstGeom>
          <a:solidFill>
            <a:srgbClr val="14223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3493008"/>
            <a:ext cx="16367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ALERT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1" y="34564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A6B5C7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246120"/>
            <a:ext cx="1783080" cy="731520"/>
          </a:xfrm>
          <a:prstGeom prst="roundRect">
            <a:avLst/>
          </a:prstGeom>
          <a:solidFill>
            <a:srgbClr val="14223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5232" y="3493008"/>
            <a:ext cx="16367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BLINK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34564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A6B5C7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3246120"/>
            <a:ext cx="1783080" cy="731520"/>
          </a:xfrm>
          <a:prstGeom prst="roundRect">
            <a:avLst/>
          </a:prstGeom>
          <a:solidFill>
            <a:srgbClr val="142234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3493008"/>
            <a:ext cx="16367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ACKNOWLEDGE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34564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A6B5C7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3246120"/>
            <a:ext cx="1783080" cy="731520"/>
          </a:xfrm>
          <a:prstGeom prst="roundRect">
            <a:avLst/>
          </a:prstGeom>
          <a:solidFill>
            <a:srgbClr val="14223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3493008"/>
            <a:ext cx="16367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RESET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17720"/>
            <a:ext cx="103327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Persistent top-of-dashboard alert instead of modal interruption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Blinking continues until acknowledgement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Multiple critical wells are queued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Acknowledged alerts are not repeatedly re-issued while still critical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Background monitoring keeps alert processing responsive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6B5C7"/>
                </a:solidFill>
                <a:latin typeface="Aptos"/>
              </a:rPr>
              <a:t>SQUAD CHARLIE  •  DIGITAL OILFIELD MONITORING &amp; PREDICTIVE MAINTENANCE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A6B5C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10 •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Authentication, Roles &amp; Session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291840" cy="141732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9344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First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Dashboard gated behind authentication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50292" cy="1417320"/>
          </a:xfrm>
          <a:prstGeom prst="rect">
            <a:avLst/>
          </a:prstGeom>
          <a:solidFill>
            <a:srgbClr val="27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291840" cy="141732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09344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PASSWORDS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38528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PBKDF2-HMAC-SHA256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77440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Unique salt + high iteration 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50292" cy="14173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79" y="1463040"/>
            <a:ext cx="3291840" cy="141732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609344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1938528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Admin / Operator / 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377440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Role-based access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463040"/>
            <a:ext cx="5029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Authentication events are logged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Database operations use parameterized queries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Viewer-level access can be restricted from destructive operations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Logout returns the application to the authentication 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6B5C7"/>
                </a:solidFill>
                <a:latin typeface="Aptos"/>
              </a:rPr>
              <a:t>SQUAD CHARLIE  •  DIGITAL OILFIELD MONITORING &amp; PREDICTIVE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A6B5C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EC4B6"/>
                </a:solidFill>
                <a:latin typeface="Aptos"/>
              </a:rPr>
              <a:t>11 •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Testing, Limitations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291840" cy="132588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9344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AUTOMATED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21+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Validation • targets • analytics • auth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50292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291840" cy="132588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09344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RESPONSIVENESS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38528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Background workers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77440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Heavy ML/DB work separated from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50292" cy="13258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79" y="1463040"/>
            <a:ext cx="3291840" cy="1325880"/>
          </a:xfrm>
          <a:prstGeom prst="roundRect">
            <a:avLst/>
          </a:prstGeom>
          <a:solidFill>
            <a:srgbClr val="142234"/>
          </a:solidFill>
          <a:ln>
            <a:solidFill>
              <a:srgbClr val="23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609344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6B5C7"/>
                </a:solidFill>
                <a:latin typeface="Aptos"/>
              </a:rPr>
              <a:t>LIMITATION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1938528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Synthetic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377440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6B5C7"/>
                </a:solidFill>
                <a:latin typeface="Aptos"/>
              </a:rPr>
              <a:t>Real field data required for deployment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463040"/>
            <a:ext cx="5029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103327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Expand real sensor and historical data coverage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Add model drift monitoring and scheduled retraining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Add alert history with acknowledgement timestamps and audit trail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Harden deployment, secrets and centralized identity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Validate predictive performance with domain experts and operational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6B5C7"/>
                </a:solidFill>
                <a:latin typeface="Aptos"/>
              </a:rPr>
              <a:t>SQUAD CHARLIE  •  DIGITAL OILFIELD MONITORING &amp; PREDICTIVE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A6B5C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5F8FC"/>
                </a:solidFill>
                <a:latin typeface="Aptos"/>
              </a:rPr>
              <a:t>FROM SENSOR DATA
TO OPERATIONAL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0">
                <a:solidFill>
                  <a:srgbClr val="A6B5C7"/>
                </a:solidFill>
                <a:latin typeface="Aptos"/>
              </a:rPr>
              <a:t>A modular Digital Oilfield platform combining data engineering,
predictive maintenance, explainability and operator-centered monitoring.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EC4B6"/>
                </a:solidFill>
                <a:latin typeface="Aptos"/>
              </a:rPr>
              <a:t>SQUAD CHARLIE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Technical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6B5C7"/>
                </a:solidFill>
                <a:latin typeface="Aptos"/>
              </a:rPr>
              <a:t>SQUAD CHARLIE  •  DIGITAL OILFIELD MONITORING &amp; PREDICTIVE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A6B5C7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