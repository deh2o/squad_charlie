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6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dam Agha" userId="90f3f4dabbb827f9" providerId="LiveId" clId="{51188ED3-DBC8-444F-9E5D-F96C854C1D91}"/>
    <pc:docChg chg="custSel modSld">
      <pc:chgData name="Idam Agha" userId="90f3f4dabbb827f9" providerId="LiveId" clId="{51188ED3-DBC8-444F-9E5D-F96C854C1D91}" dt="2026-09-18T10:00:55.829" v="3" actId="478"/>
      <pc:docMkLst>
        <pc:docMk/>
      </pc:docMkLst>
      <pc:sldChg chg="addSp delSp modSp mod">
        <pc:chgData name="Idam Agha" userId="90f3f4dabbb827f9" providerId="LiveId" clId="{51188ED3-DBC8-444F-9E5D-F96C854C1D91}" dt="2026-09-18T10:00:55.829" v="3" actId="478"/>
        <pc:sldMkLst>
          <pc:docMk/>
          <pc:sldMk cId="0" sldId="260"/>
        </pc:sldMkLst>
        <pc:picChg chg="add del mod">
          <ac:chgData name="Idam Agha" userId="90f3f4dabbb827f9" providerId="LiveId" clId="{51188ED3-DBC8-444F-9E5D-F96C854C1D91}" dt="2026-09-18T10:00:55.829" v="3" actId="478"/>
          <ac:picMkLst>
            <pc:docMk/>
            <pc:sldMk cId="0" sldId="260"/>
            <ac:picMk id="82" creationId="{AC771D34-2022-D3B0-CF4B-0C1107DB106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839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an end-to-end predictive-maintenance demonstrator. Emphasise that the results are valid for the controlled synthetic demonstration, not yet for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story: we have a connected workflow, strong demo metrics, and a clear path to production hardening.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analytical task and connect each lifecycle stage to a concrete project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lineage and point out that the dataset is intentionally synthetic. Mention the raw-folder/default-CSV path inconsistency as an operational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class imbalance and the physical signature. Stress that this relationship is a property of the simulator and is a reason not to overclaim real-world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what is and is not preprocessing. Random Forest does not require scaling, but real predictive maintenance will need richer temporal features and data-quality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Random Forest is suitable as a first model and make clear that the probability thresholds still need calibration and business-cost optimisation.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result confidently but responsibly. The score is perfect on this split, while the caveat is that the data-generation rule makes the class boundary highly learnable.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these are latest-reading scores, not historical failure rates. No well crossed the warning or critical threshold, so no alert was triggered.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same model result is communicated differently for field managers and technical users. Mention the report generation and email attachment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end-to-end deployment path. Note that this is a desktop prototype, not yet a scheduled or service-based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balanced assessment: the engineering integration is strong, the evaluation is perfect on the synthetic hold-out, and the next work is to establish real-world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629400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F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 CHARLIE  /  DIGITAL OILFIELD MONITORING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875520" y="6629400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F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SEPTEMBER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kern="0" spc="22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 CHARLIE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67665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Maintenance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Digital Oilfield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2788920"/>
            <a:ext cx="59436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data-science lifecycle from simulated sensor data to risk-based operational action.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" y="3703320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3504" y="3712464"/>
            <a:ext cx="2057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DEMONSTRATOR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88920" y="3703320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 w="12700">
            <a:solidFill>
              <a:srgbClr val="A371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88920" y="3712464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18120" y="1874520"/>
            <a:ext cx="0" cy="3337560"/>
          </a:xfrm>
          <a:prstGeom prst="line">
            <a:avLst/>
          </a:prstGeom>
          <a:noFill/>
          <a:ln w="25400">
            <a:solidFill>
              <a:srgbClr val="29445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08392" y="5074920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62088" y="5413248"/>
            <a:ext cx="512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503920" y="1874520"/>
            <a:ext cx="0" cy="3337560"/>
          </a:xfrm>
          <a:prstGeom prst="line">
            <a:avLst/>
          </a:prstGeom>
          <a:noFill/>
          <a:ln w="25400">
            <a:solidFill>
              <a:srgbClr val="29445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94192" y="5074920"/>
            <a:ext cx="219456" cy="219456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47888" y="5413248"/>
            <a:ext cx="512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89720" y="1874520"/>
            <a:ext cx="0" cy="3337560"/>
          </a:xfrm>
          <a:prstGeom prst="line">
            <a:avLst/>
          </a:prstGeom>
          <a:noFill/>
          <a:ln w="25400">
            <a:solidFill>
              <a:srgbClr val="29445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079992" y="5074920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3688" y="5413248"/>
            <a:ext cx="512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875520" y="1874520"/>
            <a:ext cx="0" cy="3337560"/>
          </a:xfrm>
          <a:prstGeom prst="line">
            <a:avLst/>
          </a:prstGeom>
          <a:noFill/>
          <a:ln w="25400">
            <a:solidFill>
              <a:srgbClr val="29445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765792" y="5074920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19488" y="5413248"/>
            <a:ext cx="512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561320" y="1874520"/>
            <a:ext cx="0" cy="3337560"/>
          </a:xfrm>
          <a:prstGeom prst="line">
            <a:avLst/>
          </a:prstGeom>
          <a:noFill/>
          <a:ln w="25400">
            <a:solidFill>
              <a:srgbClr val="29445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451592" y="5074920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305288" y="5413248"/>
            <a:ext cx="5120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0" y="2423160"/>
            <a:ext cx="4023360" cy="0"/>
          </a:xfrm>
          <a:prstGeom prst="line">
            <a:avLst/>
          </a:prstGeom>
          <a:noFill/>
          <a:ln w="12700">
            <a:solidFill>
              <a:srgbClr val="29445D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0" y="3474720"/>
            <a:ext cx="5486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863840" y="3017520"/>
            <a:ext cx="548640" cy="22860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12480" y="3246120"/>
            <a:ext cx="548640" cy="59436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961120" y="3840480"/>
            <a:ext cx="5486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0" y="3337560"/>
            <a:ext cx="5486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058400" y="2651760"/>
            <a:ext cx="548640" cy="18288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607040" y="2834640"/>
            <a:ext cx="59436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15200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SIGNAL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" y="5815584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SEPTEMBER 2026</a:t>
            </a:r>
            <a:endParaRPr lang="en-US" sz="10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EXECUTIVE SNAPSHOT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sensor reading to maintenance decision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connects data, ML, reporting, visualisation and alerting in one operational loop.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" y="1801368"/>
            <a:ext cx="17647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0664" y="2276856"/>
            <a:ext cx="17647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READINGS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80944" y="1801368"/>
            <a:ext cx="17647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80944" y="2276856"/>
            <a:ext cx="17647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WELLS MONITORED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74920" y="1691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21224" y="1801368"/>
            <a:ext cx="17647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21224" y="2276856"/>
            <a:ext cx="17647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LABELS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0" y="1691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61504" y="1801368"/>
            <a:ext cx="17647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61504" y="2276856"/>
            <a:ext cx="17647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AUC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555480" y="1691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01784" y="1801368"/>
            <a:ext cx="176479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701784" y="2276856"/>
            <a:ext cx="17647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ALERTS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8368" y="3291840"/>
            <a:ext cx="1078992" cy="640080"/>
          </a:xfrm>
          <a:prstGeom prst="roundRect">
            <a:avLst>
              <a:gd name="adj" fmla="val 11429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3502152"/>
            <a:ext cx="10789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3611880"/>
            <a:ext cx="26517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57400" y="3291840"/>
            <a:ext cx="1078992" cy="640080"/>
          </a:xfrm>
          <a:prstGeom prst="roundRect">
            <a:avLst>
              <a:gd name="adj" fmla="val 11429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57400" y="3502152"/>
            <a:ext cx="10789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36392" y="3611880"/>
            <a:ext cx="26517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56432" y="3291840"/>
            <a:ext cx="1078992" cy="640080"/>
          </a:xfrm>
          <a:prstGeom prst="roundRect">
            <a:avLst>
              <a:gd name="adj" fmla="val 11429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56432" y="3502152"/>
            <a:ext cx="10789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35424" y="3611880"/>
            <a:ext cx="26517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55464" y="3291840"/>
            <a:ext cx="1078992" cy="640080"/>
          </a:xfrm>
          <a:prstGeom prst="roundRect">
            <a:avLst>
              <a:gd name="adj" fmla="val 11429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55464" y="3502152"/>
            <a:ext cx="10789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34456" y="3611880"/>
            <a:ext cx="26517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54496" y="3291840"/>
            <a:ext cx="1078992" cy="640080"/>
          </a:xfrm>
          <a:prstGeom prst="roundRect">
            <a:avLst>
              <a:gd name="adj" fmla="val 11429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54496" y="3502152"/>
            <a:ext cx="10789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33488" y="3611880"/>
            <a:ext cx="26517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53528" y="3291840"/>
            <a:ext cx="1078992" cy="640080"/>
          </a:xfrm>
          <a:prstGeom prst="roundRect">
            <a:avLst>
              <a:gd name="adj" fmla="val 11429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53528" y="3502152"/>
            <a:ext cx="10789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32520" y="3611880"/>
            <a:ext cx="26517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52560" y="3291840"/>
            <a:ext cx="1078992" cy="640080"/>
          </a:xfrm>
          <a:prstGeom prst="roundRect">
            <a:avLst>
              <a:gd name="adj" fmla="val 11429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52560" y="3502152"/>
            <a:ext cx="10789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131552" y="3611880"/>
            <a:ext cx="265176" cy="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451592" y="3291840"/>
            <a:ext cx="1078992" cy="640080"/>
          </a:xfrm>
          <a:prstGeom prst="roundRect">
            <a:avLst>
              <a:gd name="adj" fmla="val 11429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451592" y="3502152"/>
            <a:ext cx="10789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29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8368" y="45720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8680" y="473659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result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240280" y="4681728"/>
            <a:ext cx="8915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separation on the supplied 30-row synthetic hold-out set; all five latest well readings scored NORMAL.</a:t>
            </a:r>
            <a:endParaRPr lang="en-US" sz="15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PROBLEM FRAMING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question for field operations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current operating conditions identify wells that need attention before pump failure disrupts production?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OBJECTIVE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359152"/>
            <a:ext cx="41605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unplanned downtime by prioritising inspections and maintenance.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96112" y="3538728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0704" y="3429000"/>
            <a:ext cx="3675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target: Pump_Status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" y="3922776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3813048"/>
            <a:ext cx="367588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failure probability 0–1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" y="4306824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0704" y="4197096"/>
            <a:ext cx="39502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tiers: NORMAL / WARNING / CRITICAL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4690872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0704" y="4581144"/>
            <a:ext cx="39502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threshold: ≥75% triggers alert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97880" y="1691640"/>
            <a:ext cx="5623560" cy="3566160"/>
          </a:xfrm>
          <a:prstGeom prst="roundRect">
            <a:avLst>
              <a:gd name="adj" fmla="val 2051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965960"/>
            <a:ext cx="2926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DATA-SCIENCE LIFECYCLE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2487168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36208" y="267004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34656" y="2487168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34656" y="267004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33104" y="2487168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33104" y="267004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131552" y="2487168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31552" y="267004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36208" y="3538728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36208" y="372160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34656" y="3538728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34656" y="372160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33104" y="3538728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33104" y="372160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31552" y="3538728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D29922"/>
          </a:solidFill>
          <a:ln w="12700">
            <a:solidFill>
              <a:srgbClr val="D299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131552" y="372160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4681728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strongly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18120" y="4773168"/>
            <a:ext cx="1417320" cy="0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372600" y="4681728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9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production evidence</a:t>
            </a:r>
            <a:endParaRPr lang="en-US" sz="1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DATA ACQUISITION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with a traceable pipeline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generation makes the demonstration repeatable; SQLite provides an idempotent operational store.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1389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generate_data.py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75688" y="2048256"/>
            <a:ext cx="365760" cy="0"/>
          </a:xfrm>
          <a:prstGeom prst="line">
            <a:avLst/>
          </a:prstGeom>
          <a:noFill/>
          <a:ln w="2159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96312" y="173736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42032" y="1938528"/>
            <a:ext cx="1389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77640" y="2048256"/>
            <a:ext cx="365760" cy="0"/>
          </a:xfrm>
          <a:prstGeom prst="line">
            <a:avLst/>
          </a:prstGeom>
          <a:noFill/>
          <a:ln w="2159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98264" y="173736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43984" y="1938528"/>
            <a:ext cx="1389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load_csv.py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79592" y="2048256"/>
            <a:ext cx="365760" cy="0"/>
          </a:xfrm>
          <a:prstGeom prst="line">
            <a:avLst/>
          </a:prstGeom>
          <a:noFill/>
          <a:ln w="2159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0216" y="173736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45936" y="1938528"/>
            <a:ext cx="1389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81544" y="2048256"/>
            <a:ext cx="365760" cy="0"/>
          </a:xfrm>
          <a:prstGeom prst="line">
            <a:avLst/>
          </a:prstGeom>
          <a:noFill/>
          <a:ln w="2159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02168" y="173736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47888" y="1938528"/>
            <a:ext cx="1389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train_model.py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83496" y="2048256"/>
            <a:ext cx="365760" cy="0"/>
          </a:xfrm>
          <a:prstGeom prst="line">
            <a:avLst/>
          </a:prstGeom>
          <a:noFill/>
          <a:ln w="2159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04120" y="173736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49840" y="1938528"/>
            <a:ext cx="1389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predict.py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29718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2104" y="3081528"/>
            <a:ext cx="1627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32104" y="3557016"/>
            <a:ext cx="16276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88920" y="29718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35224" y="3081528"/>
            <a:ext cx="1627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935224" y="3557016"/>
            <a:ext cx="16276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/ WELL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92040" y="29718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38344" y="3081528"/>
            <a:ext cx="1627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37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038344" y="3557016"/>
            <a:ext cx="16276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95160" y="29718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41464" y="3081528"/>
            <a:ext cx="1627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29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141464" y="3557016"/>
            <a:ext cx="16276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098280" y="29718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44584" y="3081528"/>
            <a:ext cx="16276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244584" y="3557016"/>
            <a:ext cx="16276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" y="4160520"/>
            <a:ext cx="2048256" cy="283464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04672" y="4178808"/>
            <a:ext cx="19019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79776" y="4160520"/>
            <a:ext cx="2752344" cy="283464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52928" y="4178808"/>
            <a:ext cx="26060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32120" y="4160520"/>
            <a:ext cx="1600200" cy="283464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05272" y="4178808"/>
            <a:ext cx="145389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" y="4443984"/>
            <a:ext cx="2048256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4672" y="4462272"/>
            <a:ext cx="19019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Well_ID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79776" y="4443984"/>
            <a:ext cx="2752344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852928" y="4462272"/>
            <a:ext cx="26060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key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32120" y="4443984"/>
            <a:ext cx="1600200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05272" y="4462272"/>
            <a:ext cx="145389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1520" y="4727448"/>
            <a:ext cx="2048256" cy="283464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04672" y="4745736"/>
            <a:ext cx="19019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79776" y="4727448"/>
            <a:ext cx="2752344" cy="283464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852928" y="4745736"/>
            <a:ext cx="26060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index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532120" y="4727448"/>
            <a:ext cx="1600200" cy="283464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605272" y="4745736"/>
            <a:ext cx="145389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date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1520" y="5010912"/>
            <a:ext cx="2048256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04672" y="5029200"/>
            <a:ext cx="19019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Oil_Rate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79776" y="5010912"/>
            <a:ext cx="2752344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852928" y="5029200"/>
            <a:ext cx="26060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Predictor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32120" y="5010912"/>
            <a:ext cx="1600200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05272" y="5029200"/>
            <a:ext cx="145389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1520" y="5294376"/>
            <a:ext cx="2048256" cy="283464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04672" y="5312664"/>
            <a:ext cx="19019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Water_Cut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779776" y="5294376"/>
            <a:ext cx="2752344" cy="283464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852928" y="5312664"/>
            <a:ext cx="26060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Predictor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532120" y="5294376"/>
            <a:ext cx="1600200" cy="283464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605272" y="5312664"/>
            <a:ext cx="145389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31520" y="5577840"/>
            <a:ext cx="2048256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04672" y="5596128"/>
            <a:ext cx="19019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779776" y="5577840"/>
            <a:ext cx="2752344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852928" y="5596128"/>
            <a:ext cx="26060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Predictor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32120" y="5577840"/>
            <a:ext cx="1600200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605272" y="5596128"/>
            <a:ext cx="145389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31520" y="5861304"/>
            <a:ext cx="2048256" cy="283464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04672" y="5879592"/>
            <a:ext cx="19019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79776" y="5861304"/>
            <a:ext cx="2752344" cy="283464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852928" y="5879592"/>
            <a:ext cx="26060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Predictor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532120" y="5861304"/>
            <a:ext cx="1600200" cy="283464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605272" y="5879592"/>
            <a:ext cx="145389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31520" y="6144768"/>
            <a:ext cx="2048256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04672" y="6163056"/>
            <a:ext cx="190195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Pump_Status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779776" y="6144768"/>
            <a:ext cx="2752344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852928" y="6163056"/>
            <a:ext cx="26060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532120" y="6144768"/>
            <a:ext cx="1600200" cy="283464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605272" y="6163056"/>
            <a:ext cx="145389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/ 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452360" y="4160520"/>
            <a:ext cx="3886200" cy="2267712"/>
          </a:xfrm>
          <a:prstGeom prst="roundRect">
            <a:avLst>
              <a:gd name="adj" fmla="val 3226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726680" y="4434840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GUARDRAILS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726680" y="4974336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891272" y="4864608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(Well_ID, Date)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726680" y="5340096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7891272" y="5230368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Parameterized SQL queries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7726680" y="5705856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891272" y="5596128"/>
            <a:ext cx="303580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CSV loads</a:t>
            </a:r>
            <a:endParaRPr lang="en-US" sz="1200" dirty="0"/>
          </a:p>
        </p:txBody>
      </p:sp>
      <p:sp>
        <p:nvSpPr>
          <p:cNvPr id="9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EXPLORATORY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failure signal is visible before modelling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oil rate and reduced pressure are deliberately strong signatures in the generated data.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4754880" cy="4526280"/>
          </a:xfrm>
          <a:prstGeom prst="roundRect">
            <a:avLst>
              <a:gd name="adj" fmla="val 1616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560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DISTRIBUTION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248716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2532888"/>
            <a:ext cx="2514600" cy="146304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50592" y="2532888"/>
            <a:ext cx="2196084" cy="146304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74920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131 / 150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3063240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3108960"/>
            <a:ext cx="2514600" cy="146304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3108960"/>
            <a:ext cx="318516" cy="146304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2700">
            <a:solidFill>
              <a:srgbClr val="F851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3063240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150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2468880"/>
            <a:ext cx="548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87.3%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044952"/>
            <a:ext cx="548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12.7%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840480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Failures by well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422452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50592" y="4270248"/>
            <a:ext cx="2011680" cy="146304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50592" y="4270248"/>
            <a:ext cx="670560" cy="146304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2700">
            <a:solidFill>
              <a:srgbClr val="F851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4224528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" y="4535424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50592" y="4581144"/>
            <a:ext cx="2011680" cy="146304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50592" y="4581144"/>
            <a:ext cx="2011680" cy="146304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2700">
            <a:solidFill>
              <a:srgbClr val="F851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4535424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" y="4846320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50592" y="4892040"/>
            <a:ext cx="2011680" cy="146304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50592" y="4892040"/>
            <a:ext cx="1676400" cy="146304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2700">
            <a:solidFill>
              <a:srgbClr val="F851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0" y="4846320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" y="5157216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50592" y="5202936"/>
            <a:ext cx="2011680" cy="146304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450592" y="5202936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2700">
            <a:solidFill>
              <a:srgbClr val="F851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0" y="5157216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6112" y="5468112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50592" y="5513832"/>
            <a:ext cx="2011680" cy="146304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50592" y="5513832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 w="12700">
            <a:solidFill>
              <a:srgbClr val="F851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0" y="5468112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23560" y="1645920"/>
            <a:ext cx="5897880" cy="4526280"/>
          </a:xfrm>
          <a:prstGeom prst="roundRect">
            <a:avLst>
              <a:gd name="adj" fmla="val 1616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97880" y="1920240"/>
            <a:ext cx="3291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VS FAILURE SIGNATURE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97880" y="2267712"/>
            <a:ext cx="2103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feature values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2606040"/>
            <a:ext cx="2182216" cy="502920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71032" y="2624328"/>
            <a:ext cx="203591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80096" y="2606040"/>
            <a:ext cx="1420978" cy="502920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153248" y="2624328"/>
            <a:ext cx="1274674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501073" y="2606040"/>
            <a:ext cx="1471727" cy="502920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574225" y="2624328"/>
            <a:ext cx="1325423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97880" y="3108960"/>
            <a:ext cx="2182216" cy="502920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71032" y="3127248"/>
            <a:ext cx="203591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Oil rate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80096" y="3108960"/>
            <a:ext cx="1420978" cy="502920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153248" y="3127248"/>
            <a:ext cx="1274674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328.8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501073" y="3108960"/>
            <a:ext cx="1471727" cy="502920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574225" y="3127248"/>
            <a:ext cx="1325423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89.0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897880" y="3611880"/>
            <a:ext cx="2182216" cy="502920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971032" y="3630168"/>
            <a:ext cx="203591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80096" y="3611880"/>
            <a:ext cx="1420978" cy="502920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153248" y="3630168"/>
            <a:ext cx="1274674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1881.3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501073" y="3611880"/>
            <a:ext cx="1471727" cy="502920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574225" y="3630168"/>
            <a:ext cx="1325423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1120.9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97880" y="4114800"/>
            <a:ext cx="2182216" cy="502920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971032" y="4133088"/>
            <a:ext cx="203591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cut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080096" y="4114800"/>
            <a:ext cx="1420978" cy="502920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153248" y="4133088"/>
            <a:ext cx="1274674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35.8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501073" y="4114800"/>
            <a:ext cx="1471727" cy="502920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574225" y="4133088"/>
            <a:ext cx="1325423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31.6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897880" y="4617720"/>
            <a:ext cx="2182216" cy="502920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971032" y="4636008"/>
            <a:ext cx="2035912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080096" y="4617720"/>
            <a:ext cx="1420978" cy="502920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153248" y="4636008"/>
            <a:ext cx="1274674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85.3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501073" y="4617720"/>
            <a:ext cx="1471727" cy="502920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574225" y="4636008"/>
            <a:ext cx="1325423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87.7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897880" y="4983480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strength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897880" y="5321808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Oil rate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452360" y="5367528"/>
            <a:ext cx="2834640" cy="146304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452360" y="5367528"/>
            <a:ext cx="2692908" cy="14630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0396728" y="5321808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897880" y="5669280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452360" y="5715000"/>
            <a:ext cx="2834640" cy="146304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452360" y="5715000"/>
            <a:ext cx="2494483" cy="146304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0396728" y="5669280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88%</a:t>
            </a:r>
            <a:endParaRPr lang="en-US" sz="1000" dirty="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FEATURE PREPARATION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compact, consistent feature contract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four-column order is used for training and inference, preventing schema mismatch.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Oil_Rate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A371F7"/>
          </a:solidFill>
          <a:ln w="12700">
            <a:solidFill>
              <a:srgbClr val="A371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2103120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Water_Cut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58A6FF"/>
          </a:solidFill>
          <a:ln w="12700">
            <a:solidFill>
              <a:srgbClr val="58A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80760" y="2103120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78240" y="1828800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D29922"/>
          </a:solidFill>
          <a:ln w="12700">
            <a:solidFill>
              <a:srgbClr val="D299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78240" y="2103120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063240"/>
            <a:ext cx="10058400" cy="0"/>
          </a:xfrm>
          <a:prstGeom prst="line">
            <a:avLst/>
          </a:prstGeom>
          <a:noFill/>
          <a:ln w="25400">
            <a:solidFill>
              <a:srgbClr val="29445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4747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67588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4005072"/>
            <a:ext cx="19751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→ pandas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34747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0" y="367588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30168" y="4005072"/>
            <a:ext cx="19751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numeric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4747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367588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3368" y="4005072"/>
            <a:ext cx="19751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/ 20 stratified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06840" y="34747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0" y="3675888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16568" y="4005072"/>
            <a:ext cx="19751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49834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5212080"/>
            <a:ext cx="1645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29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yet implemented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5193792"/>
            <a:ext cx="7955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Imputation  •  scaling pipeline  •  lag/rolling features  •  range checks  •  future-oriented labels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MODEL TRAINING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Forest: a transparent baseline for non-linear sensor behaviour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intentionally small, reproducible and suitable for an initial prototype.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2377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CONFIGURATION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468880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44368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944368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419856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depth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3419856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895344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state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895344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370832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rows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4370832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846320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4846320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691640"/>
            <a:ext cx="6812280" cy="4389120"/>
          </a:xfrm>
          <a:prstGeom prst="roundRect">
            <a:avLst>
              <a:gd name="adj" fmla="val 1667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1965960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ENSEMBLE WORKS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2743200"/>
            <a:ext cx="713232" cy="1280160"/>
          </a:xfrm>
          <a:prstGeom prst="roundRect">
            <a:avLst>
              <a:gd name="adj" fmla="val 10256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39512" y="2999232"/>
            <a:ext cx="38404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39512" y="3291840"/>
            <a:ext cx="384048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39512" y="3584448"/>
            <a:ext cx="384048" cy="0"/>
          </a:xfrm>
          <a:prstGeom prst="line">
            <a:avLst/>
          </a:prstGeom>
          <a:noFill/>
          <a:ln w="25400">
            <a:solidFill>
              <a:srgbClr val="A371F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4160520"/>
            <a:ext cx="7132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88152" y="3383280"/>
            <a:ext cx="25603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99048" y="2743200"/>
            <a:ext cx="713232" cy="1280160"/>
          </a:xfrm>
          <a:prstGeom prst="roundRect">
            <a:avLst>
              <a:gd name="adj" fmla="val 10256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63640" y="2999232"/>
            <a:ext cx="38404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63640" y="3291840"/>
            <a:ext cx="384048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3584448"/>
            <a:ext cx="384048" cy="0"/>
          </a:xfrm>
          <a:prstGeom prst="line">
            <a:avLst/>
          </a:prstGeom>
          <a:noFill/>
          <a:ln w="25400">
            <a:solidFill>
              <a:srgbClr val="A371F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99048" y="4160520"/>
            <a:ext cx="7132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3383280"/>
            <a:ext cx="25603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23176" y="2743200"/>
            <a:ext cx="713232" cy="1280160"/>
          </a:xfrm>
          <a:prstGeom prst="roundRect">
            <a:avLst>
              <a:gd name="adj" fmla="val 10256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287768" y="2999232"/>
            <a:ext cx="38404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87768" y="3291840"/>
            <a:ext cx="384048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87768" y="3584448"/>
            <a:ext cx="384048" cy="0"/>
          </a:xfrm>
          <a:prstGeom prst="line">
            <a:avLst/>
          </a:prstGeom>
          <a:noFill/>
          <a:ln w="25400">
            <a:solidFill>
              <a:srgbClr val="A371F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23176" y="4160520"/>
            <a:ext cx="7132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36408" y="3383280"/>
            <a:ext cx="25603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47304" y="2743200"/>
            <a:ext cx="713232" cy="1280160"/>
          </a:xfrm>
          <a:prstGeom prst="roundRect">
            <a:avLst>
              <a:gd name="adj" fmla="val 10256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311896" y="2999232"/>
            <a:ext cx="38404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311896" y="3291840"/>
            <a:ext cx="384048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311896" y="3584448"/>
            <a:ext cx="384048" cy="0"/>
          </a:xfrm>
          <a:prstGeom prst="line">
            <a:avLst/>
          </a:prstGeom>
          <a:noFill/>
          <a:ln w="25400">
            <a:solidFill>
              <a:srgbClr val="A371F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147304" y="4160520"/>
            <a:ext cx="7132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860536" y="3383280"/>
            <a:ext cx="25603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171432" y="2743200"/>
            <a:ext cx="713232" cy="1280160"/>
          </a:xfrm>
          <a:prstGeom prst="roundRect">
            <a:avLst>
              <a:gd name="adj" fmla="val 10256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336024" y="2999232"/>
            <a:ext cx="38404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336024" y="3291840"/>
            <a:ext cx="384048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336024" y="3584448"/>
            <a:ext cx="384048" cy="0"/>
          </a:xfrm>
          <a:prstGeom prst="line">
            <a:avLst/>
          </a:prstGeom>
          <a:noFill/>
          <a:ln w="25400">
            <a:solidFill>
              <a:srgbClr val="A371F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171432" y="4160520"/>
            <a:ext cx="7132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012680" y="2907792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012680" y="3182112"/>
            <a:ext cx="1051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35440" y="3364992"/>
            <a:ext cx="777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83480" y="4800600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P(Pump_Status = 1)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4983480" y="5257800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29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are operational configuration, not yet cost-optimised.</a:t>
            </a:r>
            <a:endParaRPr lang="en-US" sz="11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separation on the supplied synthetic hold-out set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unseen rows: 26 normal and 4 failure observations.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" y="1755648"/>
            <a:ext cx="19019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32104" y="2231136"/>
            <a:ext cx="19019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063240" y="1645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9544" y="1755648"/>
            <a:ext cx="19019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9544" y="2231136"/>
            <a:ext cx="19019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AUC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40680" y="1645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86984" y="1755648"/>
            <a:ext cx="19019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586984" y="2231136"/>
            <a:ext cx="19019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RECALL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818120" y="16459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64424" y="1755648"/>
            <a:ext cx="19019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964424" y="2231136"/>
            <a:ext cx="19019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NEGATIVES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" y="2971800"/>
            <a:ext cx="1644091" cy="475488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" y="2990088"/>
            <a:ext cx="1497787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1331" y="2971800"/>
            <a:ext cx="1077163" cy="475488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94483" y="2990088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98494" y="2971800"/>
            <a:ext cx="1077163" cy="475488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71646" y="2990088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5658" y="2971800"/>
            <a:ext cx="1077163" cy="475488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48810" y="2990088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52821" y="2971800"/>
            <a:ext cx="793699" cy="475488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25973" y="2990088"/>
            <a:ext cx="647395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3447288"/>
            <a:ext cx="1644091" cy="475488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0392" y="3465576"/>
            <a:ext cx="1497787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(0)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1331" y="3447288"/>
            <a:ext cx="1077163" cy="475488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94483" y="3465576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98494" y="3447288"/>
            <a:ext cx="1077163" cy="475488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71646" y="3465576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5658" y="3447288"/>
            <a:ext cx="1077163" cy="475488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48810" y="3465576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52821" y="3447288"/>
            <a:ext cx="793699" cy="475488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25973" y="3465576"/>
            <a:ext cx="647395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" y="3922776"/>
            <a:ext cx="1644091" cy="475488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0392" y="3941064"/>
            <a:ext cx="1497787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(1)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21331" y="3922776"/>
            <a:ext cx="1077163" cy="475488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94483" y="3941064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98494" y="3922776"/>
            <a:ext cx="1077163" cy="475488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71646" y="3941064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5658" y="3922776"/>
            <a:ext cx="1077163" cy="475488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48810" y="3941064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52821" y="3922776"/>
            <a:ext cx="793699" cy="475488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25973" y="3941064"/>
            <a:ext cx="647395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7240" y="4398264"/>
            <a:ext cx="1644091" cy="475488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0392" y="4416552"/>
            <a:ext cx="1497787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avg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421331" y="4398264"/>
            <a:ext cx="1077163" cy="475488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494483" y="4416552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98494" y="4398264"/>
            <a:ext cx="1077163" cy="475488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571646" y="4416552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5658" y="4398264"/>
            <a:ext cx="1077163" cy="475488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648810" y="4416552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52821" y="4398264"/>
            <a:ext cx="793699" cy="475488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725973" y="4416552"/>
            <a:ext cx="647395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7240" y="4873752"/>
            <a:ext cx="1644091" cy="475488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50392" y="4892040"/>
            <a:ext cx="1497787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avg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421331" y="4873752"/>
            <a:ext cx="1077163" cy="475488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494483" y="4892040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498494" y="4873752"/>
            <a:ext cx="1077163" cy="475488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571646" y="4892040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5658" y="4873752"/>
            <a:ext cx="1077163" cy="475488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648810" y="4892040"/>
            <a:ext cx="930859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52821" y="4873752"/>
            <a:ext cx="793699" cy="475488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725973" y="4892040"/>
            <a:ext cx="647395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812280" y="297180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086600" y="3246120"/>
            <a:ext cx="2377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086600" y="3675888"/>
            <a:ext cx="1499616" cy="530352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159752" y="3694176"/>
            <a:ext cx="135331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586216" y="3675888"/>
            <a:ext cx="1124712" cy="530352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659368" y="3694176"/>
            <a:ext cx="9784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 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9710928" y="3675888"/>
            <a:ext cx="1124712" cy="530352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9784080" y="3694176"/>
            <a:ext cx="9784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 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086600" y="4206240"/>
            <a:ext cx="1499616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159752" y="4224528"/>
            <a:ext cx="135331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0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586216" y="4206240"/>
            <a:ext cx="1124712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659368" y="4224528"/>
            <a:ext cx="9784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9710928" y="4206240"/>
            <a:ext cx="1124712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9784080" y="4224528"/>
            <a:ext cx="9784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086600" y="4736592"/>
            <a:ext cx="1499616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159752" y="4754880"/>
            <a:ext cx="135331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586216" y="4736592"/>
            <a:ext cx="1124712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659368" y="4754880"/>
            <a:ext cx="9784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9710928" y="4736592"/>
            <a:ext cx="1124712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784080" y="4754880"/>
            <a:ext cx="9784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7086600" y="4919472"/>
            <a:ext cx="3657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false positives • no false negatives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77240" y="5532120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F85149"/>
          </a:solidFill>
          <a:ln w="12700">
            <a:solidFill>
              <a:srgbClr val="F851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005840" y="5669280"/>
            <a:ext cx="10058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CAVEAT  |  Perfect synthetic performance is not evidence of production generalisation.</a:t>
            </a:r>
            <a:endParaRPr lang="en-US" sz="1100" dirty="0"/>
          </a:p>
        </p:txBody>
      </p:sp>
      <p:sp>
        <p:nvSpPr>
          <p:cNvPr id="9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INFERENCE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field snapshot: all wells NORMAL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Latest-reading risk scores remain well below the WARNING threshold.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1792224"/>
            <a:ext cx="6629400" cy="219456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48840" y="1792224"/>
            <a:ext cx="54864" cy="219456"/>
          </a:xfrm>
          <a:prstGeom prst="roundRect">
            <a:avLst>
              <a:gd name="adj" fmla="val 20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006840" y="1737360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104120" y="17190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04120" y="1728216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487168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2542032"/>
            <a:ext cx="6629400" cy="219456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48840" y="2542032"/>
            <a:ext cx="54864" cy="219456"/>
          </a:xfrm>
          <a:prstGeom prst="roundRect">
            <a:avLst>
              <a:gd name="adj" fmla="val 20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06840" y="2487168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04120" y="24688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04120" y="2478024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3236976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48840" y="3291840"/>
            <a:ext cx="6629400" cy="219456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48840" y="3291840"/>
            <a:ext cx="66294" cy="219456"/>
          </a:xfrm>
          <a:prstGeom prst="roundRect">
            <a:avLst>
              <a:gd name="adj" fmla="val 165517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06840" y="3236976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04120" y="321868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04120" y="3227832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986784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48840" y="4041648"/>
            <a:ext cx="6629400" cy="219456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148840" y="4041648"/>
            <a:ext cx="66294" cy="219456"/>
          </a:xfrm>
          <a:prstGeom prst="roundRect">
            <a:avLst>
              <a:gd name="adj" fmla="val 165517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06840" y="3986784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104120" y="396849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104120" y="3977640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4736592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148840" y="4791456"/>
            <a:ext cx="6629400" cy="219456"/>
          </a:xfrm>
          <a:prstGeom prst="roundRect">
            <a:avLst>
              <a:gd name="adj" fmla="val 50000"/>
            </a:avLst>
          </a:prstGeom>
          <a:solidFill>
            <a:srgbClr val="29445D"/>
          </a:solidFill>
          <a:ln w="12700">
            <a:solidFill>
              <a:srgbClr val="2944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48840" y="4791456"/>
            <a:ext cx="54864" cy="219456"/>
          </a:xfrm>
          <a:prstGeom prst="roundRect">
            <a:avLst>
              <a:gd name="adj" fmla="val 20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06840" y="4736592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104120" y="471830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104120" y="4727448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48840" y="5650992"/>
            <a:ext cx="6629400" cy="0"/>
          </a:xfrm>
          <a:prstGeom prst="line">
            <a:avLst/>
          </a:prstGeom>
          <a:noFill/>
          <a:ln w="25400">
            <a:solidFill>
              <a:srgbClr val="D2992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15400" y="5522976"/>
            <a:ext cx="1097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29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 WARNING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48840" y="5961888"/>
            <a:ext cx="6629400" cy="0"/>
          </a:xfrm>
          <a:prstGeom prst="line">
            <a:avLst/>
          </a:prstGeom>
          <a:noFill/>
          <a:ln w="25400">
            <a:solidFill>
              <a:srgbClr val="F8514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15400" y="5833872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 CRITICAL</a:t>
            </a:r>
            <a:endParaRPr lang="en-US" sz="9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COMMUNICATION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model output to human-readable 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translate sensor statistics and risk into an engineer view, a stakeholder view and a field overview.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335024" cy="530352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1755648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9384" y="1737360"/>
            <a:ext cx="1869034" cy="530352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02536" y="1755648"/>
            <a:ext cx="172273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oil (bbl)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8418" y="1737360"/>
            <a:ext cx="1068019" cy="530352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71570" y="1755648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66437" y="1737360"/>
            <a:ext cx="1068019" cy="530352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9589" y="1755648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34456" y="1737360"/>
            <a:ext cx="1335024" cy="530352"/>
          </a:xfrm>
          <a:prstGeom prst="rect">
            <a:avLst/>
          </a:prstGeom>
          <a:solidFill>
            <a:srgbClr val="132B43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07608" y="1755648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267712"/>
            <a:ext cx="1335024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" y="2286000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9384" y="2267712"/>
            <a:ext cx="1869034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02536" y="2286000"/>
            <a:ext cx="172273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9,864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8418" y="2267712"/>
            <a:ext cx="1068019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71570" y="2286000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66437" y="2267712"/>
            <a:ext cx="1068019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9589" y="2286000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34456" y="2267712"/>
            <a:ext cx="1335024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07608" y="2286000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2798064"/>
            <a:ext cx="1335024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512" y="2816352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9384" y="2798064"/>
            <a:ext cx="1869034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02536" y="2816352"/>
            <a:ext cx="172273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8,575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98418" y="2798064"/>
            <a:ext cx="1068019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71570" y="2816352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66437" y="2798064"/>
            <a:ext cx="1068019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9589" y="2816352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34456" y="2798064"/>
            <a:ext cx="1335024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07608" y="2816352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3328416"/>
            <a:ext cx="1335024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7512" y="3346704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29384" y="3328416"/>
            <a:ext cx="1869034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002536" y="3346704"/>
            <a:ext cx="172273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9,397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98418" y="3328416"/>
            <a:ext cx="1068019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71570" y="3346704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66437" y="3328416"/>
            <a:ext cx="1068019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39589" y="3346704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34456" y="3328416"/>
            <a:ext cx="1335024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07608" y="3346704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" y="3858768"/>
            <a:ext cx="1335024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7512" y="3877056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29384" y="3858768"/>
            <a:ext cx="1869034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002536" y="3877056"/>
            <a:ext cx="172273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9,607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98418" y="3858768"/>
            <a:ext cx="1068019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871570" y="3877056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66437" y="3858768"/>
            <a:ext cx="1068019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39589" y="3877056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934456" y="3858768"/>
            <a:ext cx="1335024" cy="530352"/>
          </a:xfrm>
          <a:prstGeom prst="rect">
            <a:avLst/>
          </a:prstGeom>
          <a:solidFill>
            <a:srgbClr val="0A1728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007608" y="3877056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" y="4389120"/>
            <a:ext cx="1335024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67512" y="4407408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29384" y="4389120"/>
            <a:ext cx="1869034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002536" y="4407408"/>
            <a:ext cx="172273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10,171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98418" y="4389120"/>
            <a:ext cx="1068019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871570" y="4407408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66437" y="4389120"/>
            <a:ext cx="1068019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939589" y="4407408"/>
            <a:ext cx="921715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34456" y="4389120"/>
            <a:ext cx="1335024" cy="530352"/>
          </a:xfrm>
          <a:prstGeom prst="rect">
            <a:avLst/>
          </a:prstGeom>
          <a:solidFill>
            <a:srgbClr val="0D1D30"/>
          </a:solidFill>
          <a:ln w="7620">
            <a:solidFill>
              <a:srgbClr val="294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007608" y="4407408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635240" y="1737360"/>
            <a:ext cx="3794760" cy="3749040"/>
          </a:xfrm>
          <a:prstGeom prst="roundRect">
            <a:avLst>
              <a:gd name="adj" fmla="val 1951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909560" y="2011680"/>
            <a:ext cx="2926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WELL-01 / REPORT HIGHLIGHTS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909560" y="2606040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oil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464040" y="2606040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9,864 bbl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909560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average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464040" y="3044952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329 bbl/day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909560" y="3483864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Uptime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464040" y="3483864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93%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909560" y="3922776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days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464040" y="3922776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30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909560" y="4361688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risk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464040" y="4361688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 NORMAL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909560" y="4956048"/>
            <a:ext cx="14630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464040" y="4919472"/>
            <a:ext cx="1508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routine monitoring.</a:t>
            </a:r>
            <a:endParaRPr lang="en-US" sz="1100" dirty="0"/>
          </a:p>
        </p:txBody>
      </p:sp>
      <p:sp>
        <p:nvSpPr>
          <p:cNvPr id="7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DEPLOYMENT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prototype loop with clear operational guardrails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connects diagnostics, charts, reports, logs and threshold-based alerting.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121408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well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50008" y="2395728"/>
            <a:ext cx="45720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7520" y="2121408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latest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predict.py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395728"/>
            <a:ext cx="45720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93792" y="1874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85232" y="2121408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risk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85232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85432" y="2395728"/>
            <a:ext cx="45720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61504" y="1874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132B43"/>
          </a:solidFill>
          <a:ln w="12700">
            <a:solidFill>
              <a:srgbClr val="132B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52944" y="2121408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report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52944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reports.py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53144" y="2395728"/>
            <a:ext cx="457200" cy="0"/>
          </a:xfrm>
          <a:prstGeom prst="line">
            <a:avLst/>
          </a:prstGeom>
          <a:noFill/>
          <a:ln w="2286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729216" y="18745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85149"/>
          </a:solidFill>
          <a:ln w="12700">
            <a:solidFill>
              <a:srgbClr val="F851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20656" y="2121408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if critical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20656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emailer.py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65760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 &lt;50%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4400" y="4407408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monitoring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34840" y="365760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3440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29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 50–75%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63440" y="4407408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maintenance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3880" y="365760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12480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 ≥75%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412480" y="4407408"/>
            <a:ext cx="2560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+ email alert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474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PRODUCTION READINESS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leap is evidence, not more UI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70432"/>
            <a:ext cx="10789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D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is integrated; production confidence requires stronger labels, validation and monitoring.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2468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8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LIMITATIONS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2450592"/>
            <a:ext cx="42245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and labels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6324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2953512"/>
            <a:ext cx="42245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150 observations / 19 failures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56616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3456432"/>
            <a:ext cx="42245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row split, not temporal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06908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8992" y="3959352"/>
            <a:ext cx="42245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calibration or cost-based threshold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572000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4462272"/>
            <a:ext cx="42245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drift or retraining monitor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102238"/>
          </a:solidFill>
          <a:ln w="12700">
            <a:solidFill>
              <a:srgbClr val="10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FB9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TO PRODUCTION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42316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2432304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67728" y="2459736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field labels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990088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2999232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67728" y="3026664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+ grouped validation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557016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3566160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67728" y="3593592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/ rolling features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4123944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0" y="4133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67728" y="4160520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 risk + optimise alerts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469087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0" y="4700016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67728" y="4727448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Drift, monitoring, retraining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6236208"/>
            <a:ext cx="10881360" cy="347472"/>
          </a:xfrm>
          <a:prstGeom prst="roundRect">
            <a:avLst>
              <a:gd name="adj" fmla="val 21053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6300216"/>
            <a:ext cx="10515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strong demonstrator • not yet a validated real-world failure probability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F8B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1262</Words>
  <Application>Microsoft Office PowerPoint</Application>
  <PresentationFormat>Widescreen</PresentationFormat>
  <Paragraphs>378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Squad Charlie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Squad Charlie | Predictive Maintenance</dc:title>
  <dc:subject>Digital Oilfield Monitoring and Predictive Maintenance</dc:subject>
  <dc:creator>Squad Charlie</dc:creator>
  <cp:lastModifiedBy>Idam Agha</cp:lastModifiedBy>
  <cp:revision>1</cp:revision>
  <dcterms:created xsi:type="dcterms:W3CDTF">2026-09-15T21:52:33Z</dcterms:created>
  <dcterms:modified xsi:type="dcterms:W3CDTF">2026-09-18T10:01:00Z</dcterms:modified>
</cp:coreProperties>
</file>