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72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38396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 as an end-to-end predictive-maintenance demonstrator. Emphasise that the results are valid for the controlled synthetic demonstration, not yet for production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story: we have a connected workflow, strong demo metrics, and a clear path to production hardening.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analytical task and connect each lifecycle stage to a concrete project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lineage and point out that the dataset is intentionally synthetic. Mention the raw-folder/default-CSV path inconsistency as an operational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class imbalance and the physical signature. Stress that this relationship is a property of the simulator and is a reason not to overclaim real-world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what is and is not preprocessing. Random Forest does not require scaling, but real predictive maintenance will need richer temporal features and data-quality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Random Forest is suitable as a first model and make clear that the probability thresholds still need calibration and business-cost optimisation.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the result confidently but responsibly. The score is perfect on this split, while the caveat is that the data-generation rule makes the class boundary highly learnable.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these are latest-reading scores, not historical failure rates. No well crossed the warning or critical threshold, so no alert was triggered.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how the same model result is communicated differently for field managers and technical users. Mention the report generation and email attachment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the end-to-end deployment path. Note that this is a desktop prototype, not yet a scheduled or service-based production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balanced assessment: the engineering integration is strong, the evaluation is perfect on the synthetic hold-out, and the next work is to establish real-world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1F33"/>
          </a:solidFill>
          <a:ln w="12700">
            <a:solidFill>
              <a:srgbClr val="0D1F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6629400"/>
            <a:ext cx="53035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6F8BA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SQUAD CHARLIE  /  DIGITAL OILFIELD MONITORING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9875520" y="6629400"/>
            <a:ext cx="19202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6F8BA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SEPTEMBER 2026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658368"/>
            <a:ext cx="411480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kern="0" spc="22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SQUAD CHARLIE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6766560" cy="1325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Predictive Maintenance</a:t>
            </a:r>
            <a:endParaRPr lang="en-US" sz="3400" dirty="0"/>
          </a:p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 a Digital Oilfield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03504" y="2788920"/>
            <a:ext cx="5943600" cy="53035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complete data-science lifecycle from simulated sensor data to risk-based operational action.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03504" y="3703320"/>
            <a:ext cx="2057400" cy="27432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03504" y="3712464"/>
            <a:ext cx="20574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DEMONSTRATOR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88920" y="3703320"/>
            <a:ext cx="1508760" cy="274320"/>
          </a:xfrm>
          <a:prstGeom prst="roundRect">
            <a:avLst>
              <a:gd name="adj" fmla="val 50000"/>
            </a:avLst>
          </a:prstGeom>
          <a:solidFill>
            <a:srgbClr val="A371F7"/>
          </a:solidFill>
          <a:ln w="12700">
            <a:solidFill>
              <a:srgbClr val="A371F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88920" y="3712464"/>
            <a:ext cx="1508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18120" y="1874520"/>
            <a:ext cx="0" cy="3337560"/>
          </a:xfrm>
          <a:prstGeom prst="line">
            <a:avLst/>
          </a:prstGeom>
          <a:noFill/>
          <a:ln w="25400">
            <a:solidFill>
              <a:srgbClr val="29445D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708392" y="5074920"/>
            <a:ext cx="219456" cy="21945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562088" y="5413248"/>
            <a:ext cx="512064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W01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503920" y="1874520"/>
            <a:ext cx="0" cy="3337560"/>
          </a:xfrm>
          <a:prstGeom prst="line">
            <a:avLst/>
          </a:prstGeom>
          <a:noFill/>
          <a:ln w="25400">
            <a:solidFill>
              <a:srgbClr val="29445D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8394192" y="5074920"/>
            <a:ext cx="219456" cy="219456"/>
          </a:xfrm>
          <a:prstGeom prst="ellipse">
            <a:avLst/>
          </a:prstGeom>
          <a:solidFill>
            <a:srgbClr val="F85149"/>
          </a:solidFill>
          <a:ln w="12700">
            <a:solidFill>
              <a:srgbClr val="F8514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247888" y="5413248"/>
            <a:ext cx="512064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W02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89720" y="1874520"/>
            <a:ext cx="0" cy="3337560"/>
          </a:xfrm>
          <a:prstGeom prst="line">
            <a:avLst/>
          </a:prstGeom>
          <a:noFill/>
          <a:ln w="25400">
            <a:solidFill>
              <a:srgbClr val="29445D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079992" y="5074920"/>
            <a:ext cx="219456" cy="21945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933688" y="5413248"/>
            <a:ext cx="512064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W03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9875520" y="1874520"/>
            <a:ext cx="0" cy="3337560"/>
          </a:xfrm>
          <a:prstGeom prst="line">
            <a:avLst/>
          </a:prstGeom>
          <a:noFill/>
          <a:ln w="25400">
            <a:solidFill>
              <a:srgbClr val="29445D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9765792" y="5074920"/>
            <a:ext cx="219456" cy="21945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619488" y="5413248"/>
            <a:ext cx="512064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W04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0561320" y="1874520"/>
            <a:ext cx="0" cy="3337560"/>
          </a:xfrm>
          <a:prstGeom prst="line">
            <a:avLst/>
          </a:prstGeom>
          <a:noFill/>
          <a:ln w="25400">
            <a:solidFill>
              <a:srgbClr val="29445D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0451592" y="5074920"/>
            <a:ext cx="219456" cy="21945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305288" y="5413248"/>
            <a:ext cx="512064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W05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315200" y="2423160"/>
            <a:ext cx="4023360" cy="0"/>
          </a:xfrm>
          <a:prstGeom prst="line">
            <a:avLst/>
          </a:prstGeom>
          <a:noFill/>
          <a:ln w="12700">
            <a:solidFill>
              <a:srgbClr val="29445D"/>
            </a:solidFill>
            <a:prstDash val="dash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315200" y="3474720"/>
            <a:ext cx="548640" cy="0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7863840" y="3017520"/>
            <a:ext cx="548640" cy="228600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412480" y="3246120"/>
            <a:ext cx="548640" cy="594360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961120" y="3840480"/>
            <a:ext cx="548640" cy="0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9509760" y="3337560"/>
            <a:ext cx="548640" cy="0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10058400" y="2651760"/>
            <a:ext cx="548640" cy="182880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0607040" y="2834640"/>
            <a:ext cx="594360" cy="0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315200" y="1783080"/>
            <a:ext cx="1828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SENSOR SIGNAL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12648" y="5815584"/>
            <a:ext cx="22860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SEPTEMBER 2026</a:t>
            </a:r>
            <a:endParaRPr lang="en-US" sz="10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4747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/ EXECUTIVE SNAPSHOT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sensor reading to maintenance decision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1170432"/>
            <a:ext cx="10789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prototype connects data, ML, reporting, visualisation and alerting in one operational loop.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94360" y="169164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0664" y="1801368"/>
            <a:ext cx="176479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40664" y="2276856"/>
            <a:ext cx="17647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DAILY READINGS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834640" y="169164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980944" y="1801368"/>
            <a:ext cx="176479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8A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2980944" y="2276856"/>
            <a:ext cx="17647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WELLS MONITORED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074920" y="169164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221224" y="1801368"/>
            <a:ext cx="176479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851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221224" y="2276856"/>
            <a:ext cx="17647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 LABELS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7315200" y="169164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461504" y="1801368"/>
            <a:ext cx="176479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1.000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7461504" y="2276856"/>
            <a:ext cx="17647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 AUC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555480" y="169164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701784" y="1801368"/>
            <a:ext cx="176479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9701784" y="2276856"/>
            <a:ext cx="17647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CRITICAL ALERTS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58368" y="3291840"/>
            <a:ext cx="1078992" cy="640080"/>
          </a:xfrm>
          <a:prstGeom prst="roundRect">
            <a:avLst>
              <a:gd name="adj" fmla="val 11429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58368" y="3502152"/>
            <a:ext cx="10789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737360" y="3611880"/>
            <a:ext cx="265176" cy="0"/>
          </a:xfrm>
          <a:prstGeom prst="line">
            <a:avLst/>
          </a:prstGeom>
          <a:noFill/>
          <a:ln w="1778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057400" y="3291840"/>
            <a:ext cx="1078992" cy="640080"/>
          </a:xfrm>
          <a:prstGeom prst="roundRect">
            <a:avLst>
              <a:gd name="adj" fmla="val 11429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057400" y="3502152"/>
            <a:ext cx="10789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Acquire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36392" y="3611880"/>
            <a:ext cx="265176" cy="0"/>
          </a:xfrm>
          <a:prstGeom prst="line">
            <a:avLst/>
          </a:prstGeom>
          <a:noFill/>
          <a:ln w="1778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3456432" y="3291840"/>
            <a:ext cx="1078992" cy="640080"/>
          </a:xfrm>
          <a:prstGeom prst="roundRect">
            <a:avLst>
              <a:gd name="adj" fmla="val 11429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456432" y="3502152"/>
            <a:ext cx="10789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35424" y="3611880"/>
            <a:ext cx="265176" cy="0"/>
          </a:xfrm>
          <a:prstGeom prst="line">
            <a:avLst/>
          </a:prstGeom>
          <a:noFill/>
          <a:ln w="1778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855464" y="3291840"/>
            <a:ext cx="1078992" cy="640080"/>
          </a:xfrm>
          <a:prstGeom prst="roundRect">
            <a:avLst>
              <a:gd name="adj" fmla="val 11429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855464" y="3502152"/>
            <a:ext cx="10789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34456" y="3611880"/>
            <a:ext cx="265176" cy="0"/>
          </a:xfrm>
          <a:prstGeom prst="line">
            <a:avLst/>
          </a:prstGeom>
          <a:noFill/>
          <a:ln w="1778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254496" y="3291840"/>
            <a:ext cx="1078992" cy="640080"/>
          </a:xfrm>
          <a:prstGeom prst="roundRect">
            <a:avLst>
              <a:gd name="adj" fmla="val 11429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254496" y="3502152"/>
            <a:ext cx="10789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333488" y="3611880"/>
            <a:ext cx="265176" cy="0"/>
          </a:xfrm>
          <a:prstGeom prst="line">
            <a:avLst/>
          </a:prstGeom>
          <a:noFill/>
          <a:ln w="1778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7653528" y="3291840"/>
            <a:ext cx="1078992" cy="640080"/>
          </a:xfrm>
          <a:prstGeom prst="roundRect">
            <a:avLst>
              <a:gd name="adj" fmla="val 11429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653528" y="3502152"/>
            <a:ext cx="10789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732520" y="3611880"/>
            <a:ext cx="265176" cy="0"/>
          </a:xfrm>
          <a:prstGeom prst="line">
            <a:avLst/>
          </a:prstGeom>
          <a:noFill/>
          <a:ln w="1778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9052560" y="3291840"/>
            <a:ext cx="1078992" cy="640080"/>
          </a:xfrm>
          <a:prstGeom prst="roundRect">
            <a:avLst>
              <a:gd name="adj" fmla="val 11429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9052560" y="3502152"/>
            <a:ext cx="10789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131552" y="3611880"/>
            <a:ext cx="265176" cy="0"/>
          </a:xfrm>
          <a:prstGeom prst="line">
            <a:avLst/>
          </a:prstGeom>
          <a:noFill/>
          <a:ln w="1778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10451592" y="3291840"/>
            <a:ext cx="1078992" cy="640080"/>
          </a:xfrm>
          <a:prstGeom prst="roundRect">
            <a:avLst>
              <a:gd name="adj" fmla="val 11429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10451592" y="3502152"/>
            <a:ext cx="107899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29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58368" y="4572000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868680" y="4736592"/>
            <a:ext cx="13258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 result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240280" y="4681728"/>
            <a:ext cx="8915400" cy="310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Perfect separation on the supplied 30-row synthetic hold-out set; all five latest well readings scored NORMAL.</a:t>
            </a:r>
            <a:endParaRPr lang="en-US" sz="1500" dirty="0"/>
          </a:p>
        </p:txBody>
      </p:sp>
      <p:sp>
        <p:nvSpPr>
          <p:cNvPr id="4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4747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PROBLEM FRAMING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practical question for field operations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1170432"/>
            <a:ext cx="10789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current operating conditions identify wells that need attention before pump failure disrupts production?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94360" y="1691640"/>
            <a:ext cx="4937760" cy="3566160"/>
          </a:xfrm>
          <a:prstGeom prst="roundRect">
            <a:avLst>
              <a:gd name="adj" fmla="val 2051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1965960"/>
            <a:ext cx="28346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OBJECTIVE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2359152"/>
            <a:ext cx="4160520" cy="7132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unplanned downtime by prioritising inspections and maintenance.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96112" y="3538728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60704" y="3429000"/>
            <a:ext cx="367588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Binary target: Pump_Status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96112" y="3922776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60704" y="3813048"/>
            <a:ext cx="367588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Output: failure probability 0–1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6112" y="4306824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60704" y="4197096"/>
            <a:ext cx="395020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tiers: NORMAL / WARNING / CRITICAL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" y="4690872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60704" y="4581144"/>
            <a:ext cx="395020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Critical threshold: ≥75% triggers alert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897880" y="1691640"/>
            <a:ext cx="5623560" cy="3566160"/>
          </a:xfrm>
          <a:prstGeom prst="roundRect">
            <a:avLst>
              <a:gd name="adj" fmla="val 2051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172200" y="1965960"/>
            <a:ext cx="29260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DATA-SCIENCE LIFECYCLE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36208" y="2487168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36208" y="2670048"/>
            <a:ext cx="10972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4656" y="2487168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534656" y="2670048"/>
            <a:ext cx="10972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833104" y="2487168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833104" y="2670048"/>
            <a:ext cx="10972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131552" y="2487168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0131552" y="2670048"/>
            <a:ext cx="10972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36208" y="3538728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236208" y="3721608"/>
            <a:ext cx="10972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534656" y="3538728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534656" y="3721608"/>
            <a:ext cx="10972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833104" y="3538728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833104" y="3721608"/>
            <a:ext cx="10972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131552" y="3538728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D29922"/>
          </a:solidFill>
          <a:ln w="12700">
            <a:solidFill>
              <a:srgbClr val="D2992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0131552" y="3721608"/>
            <a:ext cx="10972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36208" y="4681728"/>
            <a:ext cx="1828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Implemented strongly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818120" y="4773168"/>
            <a:ext cx="1417320" cy="0"/>
          </a:xfrm>
          <a:prstGeom prst="line">
            <a:avLst/>
          </a:prstGeom>
          <a:noFill/>
          <a:ln w="38100">
            <a:solidFill>
              <a:srgbClr val="3FB95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9372600" y="4681728"/>
            <a:ext cx="17373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29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Needs production evidence</a:t>
            </a:r>
            <a:endParaRPr lang="en-US" sz="10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4747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DATA ACQUISITION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with a traceable pipeline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1170432"/>
            <a:ext cx="10789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generation makes the demonstration repeatable; SQLite provides an idempotent operational store.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94360" y="1737360"/>
            <a:ext cx="1481328" cy="621792"/>
          </a:xfrm>
          <a:prstGeom prst="roundRect">
            <a:avLst>
              <a:gd name="adj" fmla="val 11765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938528"/>
            <a:ext cx="138988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generate_data.py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075688" y="2048256"/>
            <a:ext cx="365760" cy="0"/>
          </a:xfrm>
          <a:prstGeom prst="line">
            <a:avLst/>
          </a:prstGeom>
          <a:noFill/>
          <a:ln w="2159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496312" y="1737360"/>
            <a:ext cx="1481328" cy="621792"/>
          </a:xfrm>
          <a:prstGeom prst="roundRect">
            <a:avLst>
              <a:gd name="adj" fmla="val 11765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542032" y="1938528"/>
            <a:ext cx="138988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CSV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977640" y="2048256"/>
            <a:ext cx="365760" cy="0"/>
          </a:xfrm>
          <a:prstGeom prst="line">
            <a:avLst/>
          </a:prstGeom>
          <a:noFill/>
          <a:ln w="2159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398264" y="1737360"/>
            <a:ext cx="1481328" cy="621792"/>
          </a:xfrm>
          <a:prstGeom prst="roundRect">
            <a:avLst>
              <a:gd name="adj" fmla="val 11765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443984" y="1938528"/>
            <a:ext cx="138988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load_csv.py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879592" y="2048256"/>
            <a:ext cx="365760" cy="0"/>
          </a:xfrm>
          <a:prstGeom prst="line">
            <a:avLst/>
          </a:prstGeom>
          <a:noFill/>
          <a:ln w="2159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300216" y="1737360"/>
            <a:ext cx="1481328" cy="621792"/>
          </a:xfrm>
          <a:prstGeom prst="roundRect">
            <a:avLst>
              <a:gd name="adj" fmla="val 11765"/>
            </a:avLst>
          </a:prstGeom>
          <a:solidFill>
            <a:srgbClr val="58A6FF"/>
          </a:solidFill>
          <a:ln w="12700">
            <a:solidFill>
              <a:srgbClr val="58A6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345936" y="1938528"/>
            <a:ext cx="138988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SQLite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781544" y="2048256"/>
            <a:ext cx="365760" cy="0"/>
          </a:xfrm>
          <a:prstGeom prst="line">
            <a:avLst/>
          </a:prstGeom>
          <a:noFill/>
          <a:ln w="2159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202168" y="1737360"/>
            <a:ext cx="1481328" cy="621792"/>
          </a:xfrm>
          <a:prstGeom prst="roundRect">
            <a:avLst>
              <a:gd name="adj" fmla="val 11765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247888" y="1938528"/>
            <a:ext cx="138988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train_model.py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83496" y="2048256"/>
            <a:ext cx="365760" cy="0"/>
          </a:xfrm>
          <a:prstGeom prst="line">
            <a:avLst/>
          </a:prstGeom>
          <a:noFill/>
          <a:ln w="2159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0104120" y="1737360"/>
            <a:ext cx="1481328" cy="621792"/>
          </a:xfrm>
          <a:prstGeom prst="roundRect">
            <a:avLst>
              <a:gd name="adj" fmla="val 11765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0149840" y="1938528"/>
            <a:ext cx="1389888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predict.py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85800" y="29718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32104" y="3081528"/>
            <a:ext cx="162763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832104" y="3557016"/>
            <a:ext cx="162763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788920" y="29718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935224" y="3081528"/>
            <a:ext cx="162763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58A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2935224" y="3557016"/>
            <a:ext cx="162763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DAYS / WELL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892040" y="29718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038344" y="3081528"/>
            <a:ext cx="162763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A371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150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5038344" y="3557016"/>
            <a:ext cx="162763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995160" y="29718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141464" y="3081528"/>
            <a:ext cx="162763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D29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7141464" y="3557016"/>
            <a:ext cx="162763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COLUMNS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9098280" y="29718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244584" y="3081528"/>
            <a:ext cx="162763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9244584" y="3557016"/>
            <a:ext cx="162763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31520" y="4160520"/>
            <a:ext cx="2048256" cy="283464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804672" y="4178808"/>
            <a:ext cx="1901952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Field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779776" y="4160520"/>
            <a:ext cx="2752344" cy="283464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2852928" y="4178808"/>
            <a:ext cx="26060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532120" y="4160520"/>
            <a:ext cx="1600200" cy="283464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605272" y="4178808"/>
            <a:ext cx="1453896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31520" y="4443984"/>
            <a:ext cx="2048256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804672" y="4462272"/>
            <a:ext cx="1901952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Well_ID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779776" y="4443984"/>
            <a:ext cx="2752344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2852928" y="4462272"/>
            <a:ext cx="26060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Entity key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532120" y="4443984"/>
            <a:ext cx="1600200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5605272" y="4462272"/>
            <a:ext cx="1453896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31520" y="4727448"/>
            <a:ext cx="2048256" cy="283464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804672" y="4745736"/>
            <a:ext cx="1901952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Date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779776" y="4727448"/>
            <a:ext cx="2752344" cy="283464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2852928" y="4745736"/>
            <a:ext cx="26060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index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532120" y="4727448"/>
            <a:ext cx="1600200" cy="283464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605272" y="4745736"/>
            <a:ext cx="1453896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ISO date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31520" y="5010912"/>
            <a:ext cx="2048256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804672" y="5029200"/>
            <a:ext cx="1901952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Oil_Rate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779776" y="5010912"/>
            <a:ext cx="2752344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2852928" y="5029200"/>
            <a:ext cx="26060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Predictor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32120" y="5010912"/>
            <a:ext cx="1600200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5605272" y="5029200"/>
            <a:ext cx="1453896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Numeric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731520" y="5294376"/>
            <a:ext cx="2048256" cy="283464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804672" y="5312664"/>
            <a:ext cx="1901952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Water_Cut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2779776" y="5294376"/>
            <a:ext cx="2752344" cy="283464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2852928" y="5312664"/>
            <a:ext cx="26060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Predictor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32120" y="5294376"/>
            <a:ext cx="1600200" cy="283464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5605272" y="5312664"/>
            <a:ext cx="1453896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Numeric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31520" y="5577840"/>
            <a:ext cx="2048256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804672" y="5596128"/>
            <a:ext cx="1901952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Pressure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2779776" y="5577840"/>
            <a:ext cx="2752344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2852928" y="5596128"/>
            <a:ext cx="26060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Predictor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32120" y="5577840"/>
            <a:ext cx="1600200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5605272" y="5596128"/>
            <a:ext cx="1453896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Numeric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31520" y="5861304"/>
            <a:ext cx="2048256" cy="283464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804672" y="5879592"/>
            <a:ext cx="1901952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2779776" y="5861304"/>
            <a:ext cx="2752344" cy="283464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2852928" y="5879592"/>
            <a:ext cx="26060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Predictor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5532120" y="5861304"/>
            <a:ext cx="1600200" cy="283464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5605272" y="5879592"/>
            <a:ext cx="1453896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Numeric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31520" y="6144768"/>
            <a:ext cx="2048256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804672" y="6163056"/>
            <a:ext cx="1901952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Pump_Status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2779776" y="6144768"/>
            <a:ext cx="2752344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2852928" y="6163056"/>
            <a:ext cx="260604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5532120" y="6144768"/>
            <a:ext cx="1600200" cy="283464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5605272" y="6163056"/>
            <a:ext cx="1453896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/ 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452360" y="4160520"/>
            <a:ext cx="3886200" cy="2267712"/>
          </a:xfrm>
          <a:prstGeom prst="roundRect">
            <a:avLst>
              <a:gd name="adj" fmla="val 3226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7726680" y="4434840"/>
            <a:ext cx="32004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QUALITY GUARDRAILS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726680" y="4974336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6"/>
          <p:cNvSpPr/>
          <p:nvPr/>
        </p:nvSpPr>
        <p:spPr>
          <a:xfrm>
            <a:off x="7891272" y="4864608"/>
            <a:ext cx="303580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Unique (Well_ID, Date)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726680" y="5340096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7891272" y="5230368"/>
            <a:ext cx="303580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Parameterized SQL queries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7726680" y="5705856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2" name="Text 90"/>
          <p:cNvSpPr/>
          <p:nvPr/>
        </p:nvSpPr>
        <p:spPr>
          <a:xfrm>
            <a:off x="7891272" y="5596128"/>
            <a:ext cx="303580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Idempotent CSV loads</a:t>
            </a:r>
            <a:endParaRPr lang="en-US" sz="1200" dirty="0"/>
          </a:p>
        </p:txBody>
      </p:sp>
      <p:sp>
        <p:nvSpPr>
          <p:cNvPr id="9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4747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EXPLORATORY ANALYSIS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failure signal is visible before modelling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1170432"/>
            <a:ext cx="10789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 oil rate and reduced pressure are deliberately strong signatures in the generated data.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94360" y="1645920"/>
            <a:ext cx="4754880" cy="4526280"/>
          </a:xfrm>
          <a:prstGeom prst="roundRect">
            <a:avLst>
              <a:gd name="adj" fmla="val 1616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1920240"/>
            <a:ext cx="25603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 DISTRIBUTION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96112" y="2487168"/>
            <a:ext cx="14630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50592" y="2532888"/>
            <a:ext cx="2514600" cy="146304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450592" y="2532888"/>
            <a:ext cx="2196084" cy="146304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74920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131 / 150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96112" y="3063240"/>
            <a:ext cx="14630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450592" y="3108960"/>
            <a:ext cx="2514600" cy="146304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450592" y="3108960"/>
            <a:ext cx="318516" cy="146304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 w="12700">
            <a:solidFill>
              <a:srgbClr val="F851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74920" y="3063240"/>
            <a:ext cx="685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51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 / 150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480560" y="2468880"/>
            <a:ext cx="5486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87.3%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480560" y="3044952"/>
            <a:ext cx="5486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851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12.7%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3840480"/>
            <a:ext cx="20116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Failures by well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96112" y="4224528"/>
            <a:ext cx="14630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50592" y="4270248"/>
            <a:ext cx="2011680" cy="146304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450592" y="4270248"/>
            <a:ext cx="670560" cy="146304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 w="12700">
            <a:solidFill>
              <a:srgbClr val="F851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0" y="4224528"/>
            <a:ext cx="685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51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96112" y="4535424"/>
            <a:ext cx="14630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450592" y="4581144"/>
            <a:ext cx="2011680" cy="146304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450592" y="4581144"/>
            <a:ext cx="2011680" cy="146304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 w="12700">
            <a:solidFill>
              <a:srgbClr val="F851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0" y="4535424"/>
            <a:ext cx="685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51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96112" y="4846320"/>
            <a:ext cx="14630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450592" y="4892040"/>
            <a:ext cx="2011680" cy="146304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450592" y="4892040"/>
            <a:ext cx="1676400" cy="146304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 w="12700">
            <a:solidFill>
              <a:srgbClr val="F851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72000" y="4846320"/>
            <a:ext cx="685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51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96112" y="5157216"/>
            <a:ext cx="14630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450592" y="5202936"/>
            <a:ext cx="2011680" cy="146304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2450592" y="5202936"/>
            <a:ext cx="1005840" cy="146304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 w="12700">
            <a:solidFill>
              <a:srgbClr val="F851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572000" y="5157216"/>
            <a:ext cx="685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51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96112" y="5468112"/>
            <a:ext cx="14630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450592" y="5513832"/>
            <a:ext cx="2011680" cy="146304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2450592" y="5513832"/>
            <a:ext cx="1005840" cy="146304"/>
          </a:xfrm>
          <a:prstGeom prst="roundRect">
            <a:avLst>
              <a:gd name="adj" fmla="val 50000"/>
            </a:avLst>
          </a:prstGeom>
          <a:solidFill>
            <a:srgbClr val="F85149"/>
          </a:solidFill>
          <a:ln w="12700">
            <a:solidFill>
              <a:srgbClr val="F851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572000" y="5468112"/>
            <a:ext cx="685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51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23560" y="1645920"/>
            <a:ext cx="5897880" cy="4526280"/>
          </a:xfrm>
          <a:prstGeom prst="roundRect">
            <a:avLst>
              <a:gd name="adj" fmla="val 1616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897880" y="1920240"/>
            <a:ext cx="32918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 VS FAILURE SIGNATURE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897880" y="2267712"/>
            <a:ext cx="21031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Mean feature values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897880" y="2606040"/>
            <a:ext cx="2182216" cy="502920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971032" y="2624328"/>
            <a:ext cx="2035912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080096" y="2606040"/>
            <a:ext cx="1420978" cy="502920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8153248" y="2624328"/>
            <a:ext cx="1274674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501073" y="2606040"/>
            <a:ext cx="1471727" cy="502920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9574225" y="2624328"/>
            <a:ext cx="1325423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897880" y="3108960"/>
            <a:ext cx="2182216" cy="502920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5971032" y="3127248"/>
            <a:ext cx="2035912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Oil rate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080096" y="3108960"/>
            <a:ext cx="1420978" cy="502920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8153248" y="3127248"/>
            <a:ext cx="1274674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328.8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9501073" y="3108960"/>
            <a:ext cx="1471727" cy="502920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9574225" y="3127248"/>
            <a:ext cx="1325423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89.0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897880" y="3611880"/>
            <a:ext cx="2182216" cy="502920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971032" y="3630168"/>
            <a:ext cx="2035912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Pressure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8080096" y="3611880"/>
            <a:ext cx="1420978" cy="502920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8153248" y="3630168"/>
            <a:ext cx="1274674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1881.3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9501073" y="3611880"/>
            <a:ext cx="1471727" cy="502920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9574225" y="3630168"/>
            <a:ext cx="1325423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1120.9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97880" y="4114800"/>
            <a:ext cx="2182216" cy="502920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5971032" y="4133088"/>
            <a:ext cx="2035912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Water cut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8080096" y="4114800"/>
            <a:ext cx="1420978" cy="502920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8153248" y="4133088"/>
            <a:ext cx="1274674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35.8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9501073" y="4114800"/>
            <a:ext cx="1471727" cy="502920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9574225" y="4133088"/>
            <a:ext cx="1325423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31.6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897880" y="4617720"/>
            <a:ext cx="2182216" cy="502920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5971032" y="4636008"/>
            <a:ext cx="2035912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8080096" y="4617720"/>
            <a:ext cx="1420978" cy="502920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8153248" y="4636008"/>
            <a:ext cx="1274674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85.3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9501073" y="4617720"/>
            <a:ext cx="1471727" cy="502920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9574225" y="4636008"/>
            <a:ext cx="1325423" cy="4663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87.7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5897880" y="4983480"/>
            <a:ext cx="1828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Signal strength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5897880" y="5321808"/>
            <a:ext cx="14630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Oil rate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452360" y="5367528"/>
            <a:ext cx="2834640" cy="146304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7452360" y="5367528"/>
            <a:ext cx="2692908" cy="146304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10396728" y="5321808"/>
            <a:ext cx="685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95%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5897880" y="5669280"/>
            <a:ext cx="14630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Pressure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452360" y="5715000"/>
            <a:ext cx="2834640" cy="146304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7452360" y="5715000"/>
            <a:ext cx="2494483" cy="146304"/>
          </a:xfrm>
          <a:prstGeom prst="roundRect">
            <a:avLst>
              <a:gd name="adj" fmla="val 50000"/>
            </a:avLst>
          </a:prstGeom>
          <a:solidFill>
            <a:srgbClr val="58A6FF"/>
          </a:solidFill>
          <a:ln w="12700">
            <a:solidFill>
              <a:srgbClr val="58A6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10396728" y="5669280"/>
            <a:ext cx="685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8A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88%</a:t>
            </a:r>
            <a:endParaRPr lang="en-US" sz="1000" dirty="0"/>
          </a:p>
        </p:txBody>
      </p:sp>
      <p:sp>
        <p:nvSpPr>
          <p:cNvPr id="8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4747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FEATURE PREPARATION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compact, consistent feature contract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1170432"/>
            <a:ext cx="10789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four-column order is used for training and inference, preventing schema mismatch.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2148840" cy="804672"/>
          </a:xfrm>
          <a:prstGeom prst="roundRect">
            <a:avLst>
              <a:gd name="adj" fmla="val 9091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2103120"/>
            <a:ext cx="2148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Oil_Rate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148840" cy="804672"/>
          </a:xfrm>
          <a:prstGeom prst="roundRect">
            <a:avLst>
              <a:gd name="adj" fmla="val 9091"/>
            </a:avLst>
          </a:prstGeom>
          <a:solidFill>
            <a:srgbClr val="A371F7"/>
          </a:solidFill>
          <a:ln w="12700">
            <a:solidFill>
              <a:srgbClr val="A371F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383280" y="2103120"/>
            <a:ext cx="2148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Water_Cut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80760" y="1828800"/>
            <a:ext cx="2148840" cy="804672"/>
          </a:xfrm>
          <a:prstGeom prst="roundRect">
            <a:avLst>
              <a:gd name="adj" fmla="val 9091"/>
            </a:avLst>
          </a:prstGeom>
          <a:solidFill>
            <a:srgbClr val="58A6FF"/>
          </a:solidFill>
          <a:ln w="12700">
            <a:solidFill>
              <a:srgbClr val="58A6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080760" y="2103120"/>
            <a:ext cx="2148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Pressure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778240" y="1828800"/>
            <a:ext cx="2148840" cy="804672"/>
          </a:xfrm>
          <a:prstGeom prst="roundRect">
            <a:avLst>
              <a:gd name="adj" fmla="val 9091"/>
            </a:avLst>
          </a:prstGeom>
          <a:solidFill>
            <a:srgbClr val="D29922"/>
          </a:solidFill>
          <a:ln w="12700">
            <a:solidFill>
              <a:srgbClr val="D29922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778240" y="2103120"/>
            <a:ext cx="2148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Temperature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3063240"/>
            <a:ext cx="10058400" cy="0"/>
          </a:xfrm>
          <a:prstGeom prst="line">
            <a:avLst/>
          </a:prstGeom>
          <a:noFill/>
          <a:ln w="25400">
            <a:solidFill>
              <a:srgbClr val="29445D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77240" y="3474720"/>
            <a:ext cx="2194560" cy="960120"/>
          </a:xfrm>
          <a:prstGeom prst="roundRect">
            <a:avLst>
              <a:gd name="adj" fmla="val 7619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14400" y="3675888"/>
            <a:ext cx="19202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86968" y="4005072"/>
            <a:ext cx="197510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SQLite → pandas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520440" y="3474720"/>
            <a:ext cx="2194560" cy="960120"/>
          </a:xfrm>
          <a:prstGeom prst="roundRect">
            <a:avLst>
              <a:gd name="adj" fmla="val 7619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57600" y="3675888"/>
            <a:ext cx="19202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30168" y="4005072"/>
            <a:ext cx="197510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 numeric features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63640" y="3474720"/>
            <a:ext cx="2194560" cy="960120"/>
          </a:xfrm>
          <a:prstGeom prst="roundRect">
            <a:avLst>
              <a:gd name="adj" fmla="val 7619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0" y="3675888"/>
            <a:ext cx="19202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Split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73368" y="4005072"/>
            <a:ext cx="197510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 / 20 stratified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006840" y="3474720"/>
            <a:ext cx="2194560" cy="960120"/>
          </a:xfrm>
          <a:prstGeom prst="roundRect">
            <a:avLst>
              <a:gd name="adj" fmla="val 7619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144000" y="3675888"/>
            <a:ext cx="19202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16568" y="4005072"/>
            <a:ext cx="1975104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77240" y="498348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05840" y="5212080"/>
            <a:ext cx="1645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D29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yet implemented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43200" y="5193792"/>
            <a:ext cx="79552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Imputation  •  scaling pipeline  •  lag/rolling features  •  range checks  •  future-oriented labels</a:t>
            </a:r>
            <a:endParaRPr lang="en-US" sz="13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4747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MODEL TRAINING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Forest: a transparent baseline for non-linear sensor behaviour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1170432"/>
            <a:ext cx="10789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model is intentionally small, reproducible and suitable for an initial prototype.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3657600" cy="4389120"/>
          </a:xfrm>
          <a:prstGeom prst="roundRect">
            <a:avLst>
              <a:gd name="adj" fmla="val 2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23774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CONFIGURATION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12344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Algorithm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331720" y="2468880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Forest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944368"/>
            <a:ext cx="12344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31720" y="2944368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3419856"/>
            <a:ext cx="12344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 depth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331720" y="3419856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3895344"/>
            <a:ext cx="12344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state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31720" y="3895344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4370832"/>
            <a:ext cx="12344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Train rows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331720" y="4370832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120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4846320"/>
            <a:ext cx="12344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rows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331720" y="4846320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1691640"/>
            <a:ext cx="6812280" cy="4389120"/>
          </a:xfrm>
          <a:prstGeom prst="roundRect">
            <a:avLst>
              <a:gd name="adj" fmla="val 1667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983480" y="1965960"/>
            <a:ext cx="29260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THE ENSEMBLE WORKS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4920" y="2743200"/>
            <a:ext cx="713232" cy="1280160"/>
          </a:xfrm>
          <a:prstGeom prst="roundRect">
            <a:avLst>
              <a:gd name="adj" fmla="val 10256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239512" y="2999232"/>
            <a:ext cx="384048" cy="0"/>
          </a:xfrm>
          <a:prstGeom prst="line">
            <a:avLst/>
          </a:prstGeom>
          <a:noFill/>
          <a:ln w="2540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239512" y="3291840"/>
            <a:ext cx="384048" cy="0"/>
          </a:xfrm>
          <a:prstGeom prst="line">
            <a:avLst/>
          </a:prstGeom>
          <a:noFill/>
          <a:ln w="25400">
            <a:solidFill>
              <a:srgbClr val="58A6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239512" y="3584448"/>
            <a:ext cx="384048" cy="0"/>
          </a:xfrm>
          <a:prstGeom prst="line">
            <a:avLst/>
          </a:prstGeom>
          <a:noFill/>
          <a:ln w="25400">
            <a:solidFill>
              <a:srgbClr val="A371F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074920" y="4160520"/>
            <a:ext cx="71323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788152" y="3383280"/>
            <a:ext cx="256032" cy="0"/>
          </a:xfrm>
          <a:prstGeom prst="line">
            <a:avLst/>
          </a:prstGeom>
          <a:noFill/>
          <a:ln w="1905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099048" y="2743200"/>
            <a:ext cx="713232" cy="1280160"/>
          </a:xfrm>
          <a:prstGeom prst="roundRect">
            <a:avLst>
              <a:gd name="adj" fmla="val 10256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263640" y="2999232"/>
            <a:ext cx="384048" cy="0"/>
          </a:xfrm>
          <a:prstGeom prst="line">
            <a:avLst/>
          </a:prstGeom>
          <a:noFill/>
          <a:ln w="2540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263640" y="3291840"/>
            <a:ext cx="384048" cy="0"/>
          </a:xfrm>
          <a:prstGeom prst="line">
            <a:avLst/>
          </a:prstGeom>
          <a:noFill/>
          <a:ln w="25400">
            <a:solidFill>
              <a:srgbClr val="58A6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263640" y="3584448"/>
            <a:ext cx="384048" cy="0"/>
          </a:xfrm>
          <a:prstGeom prst="line">
            <a:avLst/>
          </a:prstGeom>
          <a:noFill/>
          <a:ln w="25400">
            <a:solidFill>
              <a:srgbClr val="A371F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099048" y="4160520"/>
            <a:ext cx="71323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2280" y="3383280"/>
            <a:ext cx="256032" cy="0"/>
          </a:xfrm>
          <a:prstGeom prst="line">
            <a:avLst/>
          </a:prstGeom>
          <a:noFill/>
          <a:ln w="1905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7123176" y="2743200"/>
            <a:ext cx="713232" cy="1280160"/>
          </a:xfrm>
          <a:prstGeom prst="roundRect">
            <a:avLst>
              <a:gd name="adj" fmla="val 10256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7287768" y="2999232"/>
            <a:ext cx="384048" cy="0"/>
          </a:xfrm>
          <a:prstGeom prst="line">
            <a:avLst/>
          </a:prstGeom>
          <a:noFill/>
          <a:ln w="2540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7287768" y="3291840"/>
            <a:ext cx="384048" cy="0"/>
          </a:xfrm>
          <a:prstGeom prst="line">
            <a:avLst/>
          </a:prstGeom>
          <a:noFill/>
          <a:ln w="25400">
            <a:solidFill>
              <a:srgbClr val="58A6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7287768" y="3584448"/>
            <a:ext cx="384048" cy="0"/>
          </a:xfrm>
          <a:prstGeom prst="line">
            <a:avLst/>
          </a:prstGeom>
          <a:noFill/>
          <a:ln w="25400">
            <a:solidFill>
              <a:srgbClr val="A371F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123176" y="4160520"/>
            <a:ext cx="71323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T3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836408" y="3383280"/>
            <a:ext cx="256032" cy="0"/>
          </a:xfrm>
          <a:prstGeom prst="line">
            <a:avLst/>
          </a:prstGeom>
          <a:noFill/>
          <a:ln w="1905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8147304" y="2743200"/>
            <a:ext cx="713232" cy="1280160"/>
          </a:xfrm>
          <a:prstGeom prst="roundRect">
            <a:avLst>
              <a:gd name="adj" fmla="val 10256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8311896" y="2999232"/>
            <a:ext cx="384048" cy="0"/>
          </a:xfrm>
          <a:prstGeom prst="line">
            <a:avLst/>
          </a:prstGeom>
          <a:noFill/>
          <a:ln w="2540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8311896" y="3291840"/>
            <a:ext cx="384048" cy="0"/>
          </a:xfrm>
          <a:prstGeom prst="line">
            <a:avLst/>
          </a:prstGeom>
          <a:noFill/>
          <a:ln w="25400">
            <a:solidFill>
              <a:srgbClr val="58A6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8311896" y="3584448"/>
            <a:ext cx="384048" cy="0"/>
          </a:xfrm>
          <a:prstGeom prst="line">
            <a:avLst/>
          </a:prstGeom>
          <a:noFill/>
          <a:ln w="25400">
            <a:solidFill>
              <a:srgbClr val="A371F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8147304" y="4160520"/>
            <a:ext cx="71323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860536" y="3383280"/>
            <a:ext cx="256032" cy="0"/>
          </a:xfrm>
          <a:prstGeom prst="line">
            <a:avLst/>
          </a:prstGeom>
          <a:noFill/>
          <a:ln w="1905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9171432" y="2743200"/>
            <a:ext cx="713232" cy="1280160"/>
          </a:xfrm>
          <a:prstGeom prst="roundRect">
            <a:avLst>
              <a:gd name="adj" fmla="val 10256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9336024" y="2999232"/>
            <a:ext cx="384048" cy="0"/>
          </a:xfrm>
          <a:prstGeom prst="line">
            <a:avLst/>
          </a:prstGeom>
          <a:noFill/>
          <a:ln w="2540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9336024" y="3291840"/>
            <a:ext cx="384048" cy="0"/>
          </a:xfrm>
          <a:prstGeom prst="line">
            <a:avLst/>
          </a:prstGeom>
          <a:noFill/>
          <a:ln w="25400">
            <a:solidFill>
              <a:srgbClr val="58A6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9336024" y="3584448"/>
            <a:ext cx="384048" cy="0"/>
          </a:xfrm>
          <a:prstGeom prst="line">
            <a:avLst/>
          </a:prstGeom>
          <a:noFill/>
          <a:ln w="25400">
            <a:solidFill>
              <a:srgbClr val="A371F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9171432" y="4160520"/>
            <a:ext cx="71323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T5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10012680" y="2907792"/>
            <a:ext cx="1051560" cy="914400"/>
          </a:xfrm>
          <a:prstGeom prst="roundRect">
            <a:avLst>
              <a:gd name="adj" fmla="val 8000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10012680" y="3182112"/>
            <a:ext cx="10515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235440" y="3364992"/>
            <a:ext cx="777240" cy="0"/>
          </a:xfrm>
          <a:prstGeom prst="line">
            <a:avLst/>
          </a:prstGeom>
          <a:noFill/>
          <a:ln w="2540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983480" y="4800600"/>
            <a:ext cx="41148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Output: P(Pump_Status = 1)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4983480" y="5257800"/>
            <a:ext cx="512064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D29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Thresholds are operational configuration, not yet cost-optimised.</a:t>
            </a:r>
            <a:endParaRPr lang="en-US" sz="1100" dirty="0"/>
          </a:p>
        </p:txBody>
      </p:sp>
      <p:sp>
        <p:nvSpPr>
          <p:cNvPr id="5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4747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EVALUATION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Perfect separation on the supplied synthetic hold-out set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1170432"/>
            <a:ext cx="10789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unseen rows: 26 normal and 4 failure observations.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164592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2104" y="1755648"/>
            <a:ext cx="190195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832104" y="2231136"/>
            <a:ext cx="190195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63240" y="164592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9544" y="1755648"/>
            <a:ext cx="190195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209544" y="2231136"/>
            <a:ext cx="190195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ROC AUC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40680" y="164592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586984" y="1755648"/>
            <a:ext cx="190195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586984" y="2231136"/>
            <a:ext cx="190195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 RECALL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7818120" y="1645920"/>
            <a:ext cx="2194560" cy="914400"/>
          </a:xfrm>
          <a:prstGeom prst="roundRect">
            <a:avLst>
              <a:gd name="adj" fmla="val 8000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964424" y="1755648"/>
            <a:ext cx="1901952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7964424" y="2231136"/>
            <a:ext cx="1901952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800" b="1" kern="0" spc="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FALSE NEGATIVES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77240" y="2971800"/>
            <a:ext cx="1644091" cy="475488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50392" y="2990088"/>
            <a:ext cx="1497787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21331" y="2971800"/>
            <a:ext cx="1077163" cy="475488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494483" y="2990088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Precision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98494" y="2971800"/>
            <a:ext cx="1077163" cy="475488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571646" y="2990088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Recall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5658" y="2971800"/>
            <a:ext cx="1077163" cy="475488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648810" y="2990088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F1-score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52821" y="2971800"/>
            <a:ext cx="793699" cy="475488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725973" y="2990088"/>
            <a:ext cx="647395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77240" y="3447288"/>
            <a:ext cx="1644091" cy="475488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50392" y="3465576"/>
            <a:ext cx="1497787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 (0)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421331" y="3447288"/>
            <a:ext cx="1077163" cy="475488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494483" y="3465576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98494" y="3447288"/>
            <a:ext cx="1077163" cy="475488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571646" y="3465576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5658" y="3447288"/>
            <a:ext cx="1077163" cy="475488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4648810" y="3465576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52821" y="3447288"/>
            <a:ext cx="793699" cy="475488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5725973" y="3465576"/>
            <a:ext cx="647395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77240" y="3922776"/>
            <a:ext cx="1644091" cy="475488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850392" y="3941064"/>
            <a:ext cx="1497787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 (1)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421331" y="3922776"/>
            <a:ext cx="1077163" cy="475488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2494483" y="3941064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98494" y="3922776"/>
            <a:ext cx="1077163" cy="475488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571646" y="3941064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5658" y="3922776"/>
            <a:ext cx="1077163" cy="475488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648810" y="3941064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652821" y="3922776"/>
            <a:ext cx="793699" cy="475488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725973" y="3941064"/>
            <a:ext cx="647395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77240" y="4398264"/>
            <a:ext cx="1644091" cy="475488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850392" y="4416552"/>
            <a:ext cx="1497787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 avg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421331" y="4398264"/>
            <a:ext cx="1077163" cy="475488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2494483" y="4416552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3498494" y="4398264"/>
            <a:ext cx="1077163" cy="475488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3571646" y="4416552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5658" y="4398264"/>
            <a:ext cx="1077163" cy="475488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4648810" y="4416552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652821" y="4398264"/>
            <a:ext cx="793699" cy="475488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5725973" y="4416552"/>
            <a:ext cx="647395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777240" y="4873752"/>
            <a:ext cx="1644091" cy="475488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850392" y="4892040"/>
            <a:ext cx="1497787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Weighted avg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421331" y="4873752"/>
            <a:ext cx="1077163" cy="475488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2494483" y="4892040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3498494" y="4873752"/>
            <a:ext cx="1077163" cy="475488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3571646" y="4892040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5658" y="4873752"/>
            <a:ext cx="1077163" cy="475488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4648810" y="4892040"/>
            <a:ext cx="930859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1.00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652821" y="4873752"/>
            <a:ext cx="793699" cy="475488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5725973" y="4892040"/>
            <a:ext cx="647395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6812280" y="2971800"/>
            <a:ext cx="4572000" cy="2377440"/>
          </a:xfrm>
          <a:prstGeom prst="roundRect">
            <a:avLst>
              <a:gd name="adj" fmla="val 3077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7086600" y="3246120"/>
            <a:ext cx="23774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CONFUSION MATRIX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086600" y="3675888"/>
            <a:ext cx="1499616" cy="530352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7159752" y="3694176"/>
            <a:ext cx="1353312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8586216" y="3675888"/>
            <a:ext cx="1124712" cy="530352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8659368" y="3694176"/>
            <a:ext cx="978408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 0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9710928" y="3675888"/>
            <a:ext cx="1124712" cy="530352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Text 72"/>
          <p:cNvSpPr/>
          <p:nvPr/>
        </p:nvSpPr>
        <p:spPr>
          <a:xfrm>
            <a:off x="9784080" y="3694176"/>
            <a:ext cx="978408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 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086600" y="4206240"/>
            <a:ext cx="1499616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Text 74"/>
          <p:cNvSpPr/>
          <p:nvPr/>
        </p:nvSpPr>
        <p:spPr>
          <a:xfrm>
            <a:off x="7159752" y="4224528"/>
            <a:ext cx="1353312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0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586216" y="4206240"/>
            <a:ext cx="1124712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8659368" y="4224528"/>
            <a:ext cx="978408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9710928" y="4206240"/>
            <a:ext cx="1124712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Text 78"/>
          <p:cNvSpPr/>
          <p:nvPr/>
        </p:nvSpPr>
        <p:spPr>
          <a:xfrm>
            <a:off x="9784080" y="4224528"/>
            <a:ext cx="978408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086600" y="4736592"/>
            <a:ext cx="1499616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7159752" y="4754880"/>
            <a:ext cx="1353312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8586216" y="4736592"/>
            <a:ext cx="1124712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8659368" y="4754880"/>
            <a:ext cx="978408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9710928" y="4736592"/>
            <a:ext cx="1124712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9784080" y="4754880"/>
            <a:ext cx="978408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87" name="Text 85"/>
          <p:cNvSpPr/>
          <p:nvPr/>
        </p:nvSpPr>
        <p:spPr>
          <a:xfrm>
            <a:off x="7086600" y="4919472"/>
            <a:ext cx="36576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false positives • no false negatives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777240" y="5532120"/>
            <a:ext cx="10607040" cy="475488"/>
          </a:xfrm>
          <a:prstGeom prst="roundRect">
            <a:avLst>
              <a:gd name="adj" fmla="val 15385"/>
            </a:avLst>
          </a:prstGeom>
          <a:solidFill>
            <a:srgbClr val="F85149"/>
          </a:solidFill>
          <a:ln w="12700">
            <a:solidFill>
              <a:srgbClr val="F851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1005840" y="5669280"/>
            <a:ext cx="100584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CAVEAT  |  Perfect synthetic performance is not evidence of production generalisation.</a:t>
            </a:r>
            <a:endParaRPr lang="en-US" sz="1100" dirty="0"/>
          </a:p>
        </p:txBody>
      </p:sp>
      <p:sp>
        <p:nvSpPr>
          <p:cNvPr id="9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4747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INFERENCE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field snapshot: all wells NORMAL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1170432"/>
            <a:ext cx="10789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Latest-reading risk scores remain well below the WARNING threshold.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1737360"/>
            <a:ext cx="1143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148840" y="1792224"/>
            <a:ext cx="6629400" cy="219456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148840" y="1792224"/>
            <a:ext cx="54864" cy="219456"/>
          </a:xfrm>
          <a:prstGeom prst="roundRect">
            <a:avLst>
              <a:gd name="adj" fmla="val 20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006840" y="1737360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0.0%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104120" y="1719072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104120" y="1728216"/>
            <a:ext cx="10058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" y="2487168"/>
            <a:ext cx="1143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48840" y="2542032"/>
            <a:ext cx="6629400" cy="219456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148840" y="2542032"/>
            <a:ext cx="54864" cy="219456"/>
          </a:xfrm>
          <a:prstGeom prst="roundRect">
            <a:avLst>
              <a:gd name="adj" fmla="val 20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006840" y="2487168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0.0%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104120" y="246888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104120" y="2478024"/>
            <a:ext cx="10058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" y="3236976"/>
            <a:ext cx="1143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148840" y="3291840"/>
            <a:ext cx="6629400" cy="219456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148840" y="3291840"/>
            <a:ext cx="66294" cy="219456"/>
          </a:xfrm>
          <a:prstGeom prst="roundRect">
            <a:avLst>
              <a:gd name="adj" fmla="val 165517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006840" y="3236976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1.0%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0104120" y="3218688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0104120" y="3227832"/>
            <a:ext cx="10058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" y="3986784"/>
            <a:ext cx="1143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WELL-04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148840" y="4041648"/>
            <a:ext cx="6629400" cy="219456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148840" y="4041648"/>
            <a:ext cx="66294" cy="219456"/>
          </a:xfrm>
          <a:prstGeom prst="roundRect">
            <a:avLst>
              <a:gd name="adj" fmla="val 165517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006840" y="3986784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1.0%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0104120" y="396849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10104120" y="3977640"/>
            <a:ext cx="10058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" y="4736592"/>
            <a:ext cx="1143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WELL-05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148840" y="4791456"/>
            <a:ext cx="6629400" cy="219456"/>
          </a:xfrm>
          <a:prstGeom prst="roundRect">
            <a:avLst>
              <a:gd name="adj" fmla="val 50000"/>
            </a:avLst>
          </a:prstGeom>
          <a:solidFill>
            <a:srgbClr val="29445D"/>
          </a:solidFill>
          <a:ln w="12700">
            <a:solidFill>
              <a:srgbClr val="29445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2148840" y="4791456"/>
            <a:ext cx="54864" cy="219456"/>
          </a:xfrm>
          <a:prstGeom prst="roundRect">
            <a:avLst>
              <a:gd name="adj" fmla="val 20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006840" y="4736592"/>
            <a:ext cx="7315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0.0%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10104120" y="4718304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10104120" y="4727448"/>
            <a:ext cx="100584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148840" y="5650992"/>
            <a:ext cx="6629400" cy="0"/>
          </a:xfrm>
          <a:prstGeom prst="line">
            <a:avLst/>
          </a:prstGeom>
          <a:noFill/>
          <a:ln w="25400">
            <a:solidFill>
              <a:srgbClr val="D29922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915400" y="5522976"/>
            <a:ext cx="109728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29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50% WARNING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148840" y="5961888"/>
            <a:ext cx="6629400" cy="0"/>
          </a:xfrm>
          <a:prstGeom prst="line">
            <a:avLst/>
          </a:prstGeom>
          <a:noFill/>
          <a:ln w="25400">
            <a:solidFill>
              <a:srgbClr val="F85149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8915400" y="5833872"/>
            <a:ext cx="11430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851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75% CRITICAL</a:t>
            </a:r>
            <a:endParaRPr lang="en-US" sz="9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4747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/ COMMUNICATION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model output to human-readable action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1170432"/>
            <a:ext cx="10789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Reports translate sensor statistics and risk into an engineer view, a stakeholder view and a field overview.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94360" y="1737360"/>
            <a:ext cx="1335024" cy="530352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67512" y="1755648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929384" y="1737360"/>
            <a:ext cx="1869034" cy="530352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002536" y="1755648"/>
            <a:ext cx="172273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Total oil (bbl)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98418" y="1737360"/>
            <a:ext cx="1068019" cy="530352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871570" y="1755648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66437" y="1737360"/>
            <a:ext cx="1068019" cy="530352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39589" y="1755648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34456" y="1737360"/>
            <a:ext cx="1335024" cy="530352"/>
          </a:xfrm>
          <a:prstGeom prst="rect">
            <a:avLst/>
          </a:prstGeom>
          <a:solidFill>
            <a:srgbClr val="132B43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07608" y="1755648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Level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" y="2267712"/>
            <a:ext cx="1335024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67512" y="2286000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929384" y="2267712"/>
            <a:ext cx="1869034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002536" y="2286000"/>
            <a:ext cx="172273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9,864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798418" y="2267712"/>
            <a:ext cx="1068019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871570" y="2286000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66437" y="2267712"/>
            <a:ext cx="1068019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39589" y="2286000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34456" y="2267712"/>
            <a:ext cx="1335024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007608" y="2286000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4360" y="2798064"/>
            <a:ext cx="1335024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67512" y="2816352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29384" y="2798064"/>
            <a:ext cx="1869034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002536" y="2816352"/>
            <a:ext cx="172273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8,575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798418" y="2798064"/>
            <a:ext cx="1068019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871570" y="2816352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866437" y="2798064"/>
            <a:ext cx="1068019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939589" y="2816352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934456" y="2798064"/>
            <a:ext cx="1335024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007608" y="2816352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94360" y="3328416"/>
            <a:ext cx="1335024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67512" y="3346704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WELL-03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1929384" y="3328416"/>
            <a:ext cx="1869034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2002536" y="3346704"/>
            <a:ext cx="172273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9,397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798418" y="3328416"/>
            <a:ext cx="1068019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871570" y="3346704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66437" y="3328416"/>
            <a:ext cx="1068019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939589" y="3346704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1%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934456" y="3328416"/>
            <a:ext cx="1335024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007608" y="3346704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4360" y="3858768"/>
            <a:ext cx="1335024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667512" y="3877056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WELL-04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929384" y="3858768"/>
            <a:ext cx="1869034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002536" y="3877056"/>
            <a:ext cx="172273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9,607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798418" y="3858768"/>
            <a:ext cx="1068019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3871570" y="3877056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866437" y="3858768"/>
            <a:ext cx="1068019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939589" y="3877056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1%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934456" y="3858768"/>
            <a:ext cx="1335024" cy="530352"/>
          </a:xfrm>
          <a:prstGeom prst="rect">
            <a:avLst/>
          </a:prstGeom>
          <a:solidFill>
            <a:srgbClr val="0A1728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007608" y="3877056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94360" y="4389120"/>
            <a:ext cx="1335024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667512" y="4407408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WELL-05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1929384" y="4389120"/>
            <a:ext cx="1869034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2002536" y="4407408"/>
            <a:ext cx="172273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10,171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3798418" y="4389120"/>
            <a:ext cx="1068019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3871570" y="4407408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866437" y="4389120"/>
            <a:ext cx="1068019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4939589" y="4407408"/>
            <a:ext cx="921715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0%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4456" y="4389120"/>
            <a:ext cx="1335024" cy="530352"/>
          </a:xfrm>
          <a:prstGeom prst="rect">
            <a:avLst/>
          </a:prstGeom>
          <a:solidFill>
            <a:srgbClr val="0D1D30"/>
          </a:solidFill>
          <a:ln w="7620">
            <a:solidFill>
              <a:srgbClr val="29445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Text 62"/>
          <p:cNvSpPr/>
          <p:nvPr/>
        </p:nvSpPr>
        <p:spPr>
          <a:xfrm>
            <a:off x="6007608" y="4407408"/>
            <a:ext cx="1188720" cy="4937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2F7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7635240" y="1737360"/>
            <a:ext cx="3794760" cy="3749040"/>
          </a:xfrm>
          <a:prstGeom prst="roundRect">
            <a:avLst>
              <a:gd name="adj" fmla="val 1951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7909560" y="2011680"/>
            <a:ext cx="292608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WELL-01 / REPORT HIGHLIGHTS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7909560" y="2606040"/>
            <a:ext cx="1371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Total oil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9464040" y="2606040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9,864 bbl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7909560" y="3044952"/>
            <a:ext cx="1371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Daily average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9464040" y="3044952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329 bbl/day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7909560" y="3483864"/>
            <a:ext cx="1371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Uptime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9464040" y="3483864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93%</a:t>
            </a:r>
            <a:endParaRPr lang="en-US" sz="1200" dirty="0"/>
          </a:p>
        </p:txBody>
      </p:sp>
      <p:sp>
        <p:nvSpPr>
          <p:cNvPr id="73" name="Text 71"/>
          <p:cNvSpPr/>
          <p:nvPr/>
        </p:nvSpPr>
        <p:spPr>
          <a:xfrm>
            <a:off x="7909560" y="3922776"/>
            <a:ext cx="1371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Failure days</a:t>
            </a:r>
            <a:endParaRPr lang="en-US" sz="1100" dirty="0"/>
          </a:p>
        </p:txBody>
      </p:sp>
      <p:sp>
        <p:nvSpPr>
          <p:cNvPr id="74" name="Text 72"/>
          <p:cNvSpPr/>
          <p:nvPr/>
        </p:nvSpPr>
        <p:spPr>
          <a:xfrm>
            <a:off x="9464040" y="3922776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30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7909560" y="4361688"/>
            <a:ext cx="13716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Latest risk</a:t>
            </a:r>
            <a:endParaRPr lang="en-US" sz="1100" dirty="0"/>
          </a:p>
        </p:txBody>
      </p:sp>
      <p:sp>
        <p:nvSpPr>
          <p:cNvPr id="76" name="Text 74"/>
          <p:cNvSpPr/>
          <p:nvPr/>
        </p:nvSpPr>
        <p:spPr>
          <a:xfrm>
            <a:off x="9464040" y="4361688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0.0% NORMAL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7909560" y="4956048"/>
            <a:ext cx="14630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Recommended action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9464040" y="4919472"/>
            <a:ext cx="150876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Continue routine monitoring.</a:t>
            </a:r>
            <a:endParaRPr lang="en-US" sz="1100" dirty="0"/>
          </a:p>
        </p:txBody>
      </p:sp>
      <p:sp>
        <p:nvSpPr>
          <p:cNvPr id="7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4747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DEPLOYMENT WORKFLOW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working prototype loop with clear operational guardrails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1170432"/>
            <a:ext cx="10789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dashboard connects diagnostics, charts, reports, logs and threshold-based alerting.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2121408"/>
            <a:ext cx="1508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well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49808" y="2514600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50008" y="2395728"/>
            <a:ext cx="457200" cy="0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926080" y="187452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017520" y="2121408"/>
            <a:ext cx="1508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 latest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17520" y="2514600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predict.py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17720" y="2395728"/>
            <a:ext cx="457200" cy="0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193792" y="187452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285232" y="2121408"/>
            <a:ext cx="1508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Classify risk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85232" y="2514600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Thresholds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85432" y="2395728"/>
            <a:ext cx="457200" cy="0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7461504" y="187452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132B43"/>
          </a:solidFill>
          <a:ln w="12700">
            <a:solidFill>
              <a:srgbClr val="132B4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552944" y="2121408"/>
            <a:ext cx="1508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 report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52944" y="2514600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reports.py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153144" y="2395728"/>
            <a:ext cx="457200" cy="0"/>
          </a:xfrm>
          <a:prstGeom prst="line">
            <a:avLst/>
          </a:prstGeom>
          <a:noFill/>
          <a:ln w="22860">
            <a:solidFill>
              <a:srgbClr val="38BDF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9729216" y="1874520"/>
            <a:ext cx="1691640" cy="1051560"/>
          </a:xfrm>
          <a:prstGeom prst="roundRect">
            <a:avLst>
              <a:gd name="adj" fmla="val 6957"/>
            </a:avLst>
          </a:prstGeom>
          <a:solidFill>
            <a:srgbClr val="F85149"/>
          </a:solidFill>
          <a:ln w="12700">
            <a:solidFill>
              <a:srgbClr val="F8514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9820656" y="2121408"/>
            <a:ext cx="150876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if critical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820656" y="2514600"/>
            <a:ext cx="150876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emailer.py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85800" y="3657600"/>
            <a:ext cx="3246120" cy="1554480"/>
          </a:xfrm>
          <a:prstGeom prst="roundRect">
            <a:avLst>
              <a:gd name="adj" fmla="val 4706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14400" y="3950208"/>
            <a:ext cx="2743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  &lt;50%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14400" y="4407408"/>
            <a:ext cx="2560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Routine monitoring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434840" y="3657600"/>
            <a:ext cx="3246120" cy="1554480"/>
          </a:xfrm>
          <a:prstGeom prst="roundRect">
            <a:avLst>
              <a:gd name="adj" fmla="val 4706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663440" y="3950208"/>
            <a:ext cx="2743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D29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WARNING  50–75%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4663440" y="4407408"/>
            <a:ext cx="2560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maintenance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83880" y="3657600"/>
            <a:ext cx="3246120" cy="1554480"/>
          </a:xfrm>
          <a:prstGeom prst="roundRect">
            <a:avLst>
              <a:gd name="adj" fmla="val 4706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412480" y="3950208"/>
            <a:ext cx="27432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851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CRITICAL  ≥75%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8412480" y="4407408"/>
            <a:ext cx="25603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Inspect + email alert</a:t>
            </a:r>
            <a:endParaRPr lang="en-US" sz="12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34747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38BDF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PRODUCTION READINESS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1115568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next leap is evidence, not more UI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30352" y="1170432"/>
            <a:ext cx="10789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9D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prototype is integrated; production confidence requires stronger labels, validation and monitoring.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212080" cy="4343400"/>
          </a:xfrm>
          <a:prstGeom prst="roundRect">
            <a:avLst>
              <a:gd name="adj" fmla="val 1684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1965960"/>
            <a:ext cx="246888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F851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LIMITATIONS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14400" y="2560320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78992" y="2450592"/>
            <a:ext cx="422452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and labels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3063240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78992" y="2953512"/>
            <a:ext cx="422452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150 observations / 19 failures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566160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78992" y="3456432"/>
            <a:ext cx="422452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Random row split, not temporal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4069080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078992" y="3959352"/>
            <a:ext cx="422452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calibration or cost-based threshold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4400" y="4572000"/>
            <a:ext cx="82296" cy="8229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078992" y="4462272"/>
            <a:ext cx="4224528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drift or retraining monitor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1691640"/>
            <a:ext cx="5394960" cy="4343400"/>
          </a:xfrm>
          <a:prstGeom prst="roundRect">
            <a:avLst>
              <a:gd name="adj" fmla="val 1684"/>
            </a:avLst>
          </a:prstGeom>
          <a:solidFill>
            <a:srgbClr val="102238"/>
          </a:solidFill>
          <a:ln w="12700">
            <a:solidFill>
              <a:srgbClr val="10223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0" y="1965960"/>
            <a:ext cx="283464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3FB9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ROADMAP TO PRODUCTION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0" y="2423160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0" y="2432304"/>
            <a:ext cx="38404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967728" y="2459736"/>
            <a:ext cx="3977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field labels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0" y="2990088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0" y="2999232"/>
            <a:ext cx="38404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967728" y="3026664"/>
            <a:ext cx="3977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Chronological + grouped validation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0" y="3557016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00800" y="3566160"/>
            <a:ext cx="38404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967728" y="3593592"/>
            <a:ext cx="3977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Temporal / rolling features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0" y="4123944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00800" y="4133088"/>
            <a:ext cx="38404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967728" y="4160520"/>
            <a:ext cx="3977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Calibrate risk + optimise alerts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0" y="4690872"/>
            <a:ext cx="384048" cy="274320"/>
          </a:xfrm>
          <a:prstGeom prst="roundRect">
            <a:avLst>
              <a:gd name="adj" fmla="val 50000"/>
            </a:avLst>
          </a:prstGeom>
          <a:solidFill>
            <a:srgbClr val="3FB950"/>
          </a:solidFill>
          <a:ln w="12700">
            <a:solidFill>
              <a:srgbClr val="3FB95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400800" y="4700016"/>
            <a:ext cx="384048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967728" y="4727448"/>
            <a:ext cx="39776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Drift, monitoring, retraining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0080" y="6236208"/>
            <a:ext cx="10881360" cy="347472"/>
          </a:xfrm>
          <a:prstGeom prst="roundRect">
            <a:avLst>
              <a:gd name="adj" fmla="val 21053"/>
            </a:avLst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22960" y="6300216"/>
            <a:ext cx="105156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811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strong demonstrator • not yet a validated real-world failure probability</a:t>
            </a:r>
            <a:endParaRPr lang="en-US" sz="1100" dirty="0"/>
          </a:p>
        </p:txBody>
      </p:sp>
      <p:sp>
        <p:nvSpPr>
          <p:cNvPr id="3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41480" y="661111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700">
                <a:solidFill>
                  <a:srgbClr val="6F8BA7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1262</Words>
  <Application>Microsoft Office PowerPoint</Application>
  <PresentationFormat>Widescreen</PresentationFormat>
  <Paragraphs>378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Squad Charlie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Squad Charlie | Predictive Maintenance</dc:title>
  <dc:subject>Digital Oilfield Monitoring and Predictive Maintenance</dc:subject>
  <dc:creator>Squad Charlie</dc:creator>
  <cp:lastModifiedBy>Adjah Adjah</cp:lastModifiedBy>
  <cp:revision>1</cp:revision>
  <dcterms:created xsi:type="dcterms:W3CDTF">2026-09-15T21:52:33Z</dcterms:created>
  <dcterms:modified xsi:type="dcterms:W3CDTF">2026-09-16T09:34:54Z</dcterms:modified>
</cp:coreProperties>
</file>